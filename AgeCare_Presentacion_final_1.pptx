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g3AN0HhOksD+fjEZXN0LZREWWV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customschemas.google.com/relationships/presentationmetadata" Target="metadata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" name="Google Shape;17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" name="Google Shape;32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" name="Google Shape;71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3" name="Google Shape;173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4" name="Google Shape;214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5" name="Google Shape;255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2" name="Google Shape;302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5" name="Google Shape;365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5" name="Google Shape;465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0" name="Google Shape;490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5" name="Google Shape;515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Prototipo en Figma: https://www.figma.com/make/Rg7cx49DWyUHHhQ1Ua1FBI/AGECARE---Primeros-mock-ups?t=eccnN7TypQvwRhCn-0</a:t>
            </a:r>
            <a:endParaRPr/>
          </a:p>
        </p:txBody>
      </p:sp>
      <p:sp>
        <p:nvSpPr>
          <p:cNvPr id="516" name="Google Shape;516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4" name="Google Shape;534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8" name="Google Shape;548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5" name="Google Shape;555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2" name="Google Shape;562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CARE_DARK">
  <p:cSld name="AGECARE_DARK">
    <p:bg>
      <p:bgPr>
        <a:solidFill>
          <a:schemeClr val="dk2"/>
        </a:solid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CARE_CONTENT">
  <p:cSld name="AGECARE_CONTENT">
    <p:bg>
      <p:bgPr>
        <a:solidFill>
          <a:schemeClr val="lt2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" name="Google Shape;9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11512" y="384048"/>
            <a:ext cx="1828800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0"/>
          <p:cNvSpPr/>
          <p:nvPr/>
        </p:nvSpPr>
        <p:spPr>
          <a:xfrm>
            <a:off x="548640" y="34747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PROYECTO AGECARE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2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Calibri"/>
              <a:buNone/>
            </a:pPr>
            <a:r>
              <a:rPr lang="en-US" sz="1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AgeCare · Presentación final Capstone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20"/>
          <p:cNvSpPr txBox="1"/>
          <p:nvPr>
            <p:ph type="title"/>
          </p:nvPr>
        </p:nvSpPr>
        <p:spPr>
          <a:xfrm>
            <a:off x="548640" y="64008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mbria"/>
              <a:buNone/>
              <a:defRPr b="1" i="0" sz="3200" u="none" cap="none" strike="noStrike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20"/>
          <p:cNvSpPr txBox="1"/>
          <p:nvPr>
            <p:ph idx="12" type="sldNum"/>
          </p:nvPr>
        </p:nvSpPr>
        <p:spPr>
          <a:xfrm>
            <a:off x="11274552" y="64008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1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sz="1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sz="1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sz="1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sz="1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sz="1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sz="1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sz="1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sz="1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idx="12" type="sldNum"/>
          </p:nvPr>
        </p:nvSpPr>
        <p:spPr>
          <a:xfrm>
            <a:off x="11274552" y="64008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9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1.png"/><Relationship Id="rId7" Type="http://schemas.openxmlformats.org/officeDocument/2006/relationships/image" Target="../media/image8.png"/><Relationship Id="rId8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Relationship Id="rId4" Type="http://schemas.openxmlformats.org/officeDocument/2006/relationships/image" Target="../media/image7.png"/><Relationship Id="rId5" Type="http://schemas.openxmlformats.org/officeDocument/2006/relationships/image" Target="../media/image15.png"/><Relationship Id="rId6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9" Type="http://schemas.openxmlformats.org/officeDocument/2006/relationships/image" Target="../media/image21.png"/><Relationship Id="rId5" Type="http://schemas.openxmlformats.org/officeDocument/2006/relationships/image" Target="../media/image35.png"/><Relationship Id="rId6" Type="http://schemas.openxmlformats.org/officeDocument/2006/relationships/image" Target="../media/image26.png"/><Relationship Id="rId7" Type="http://schemas.openxmlformats.org/officeDocument/2006/relationships/image" Target="../media/image19.png"/><Relationship Id="rId8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Relationship Id="rId4" Type="http://schemas.openxmlformats.org/officeDocument/2006/relationships/image" Target="../media/image35.png"/><Relationship Id="rId9" Type="http://schemas.openxmlformats.org/officeDocument/2006/relationships/image" Target="../media/image27.png"/><Relationship Id="rId5" Type="http://schemas.openxmlformats.org/officeDocument/2006/relationships/image" Target="../media/image23.png"/><Relationship Id="rId6" Type="http://schemas.openxmlformats.org/officeDocument/2006/relationships/image" Target="../media/image25.png"/><Relationship Id="rId7" Type="http://schemas.openxmlformats.org/officeDocument/2006/relationships/image" Target="../media/image24.png"/><Relationship Id="rId8" Type="http://schemas.openxmlformats.org/officeDocument/2006/relationships/image" Target="../media/image2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29.png"/><Relationship Id="rId5" Type="http://schemas.openxmlformats.org/officeDocument/2006/relationships/image" Target="../media/image32.png"/><Relationship Id="rId6" Type="http://schemas.openxmlformats.org/officeDocument/2006/relationships/image" Target="../media/image3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30.png"/><Relationship Id="rId5" Type="http://schemas.openxmlformats.org/officeDocument/2006/relationships/image" Target="../media/image3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9.png"/><Relationship Id="rId4" Type="http://schemas.openxmlformats.org/officeDocument/2006/relationships/image" Target="../media/image38.png"/><Relationship Id="rId5" Type="http://schemas.openxmlformats.org/officeDocument/2006/relationships/image" Target="../media/image3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36.png"/><Relationship Id="rId5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6.png"/><Relationship Id="rId4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7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"/>
          <p:cNvSpPr/>
          <p:nvPr/>
        </p:nvSpPr>
        <p:spPr>
          <a:xfrm>
            <a:off x="6903720" y="685800"/>
            <a:ext cx="5486400" cy="5486400"/>
          </a:xfrm>
          <a:prstGeom prst="ellipse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6309360" y="4480560"/>
            <a:ext cx="1463040" cy="14630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 txBox="1"/>
          <p:nvPr/>
        </p:nvSpPr>
        <p:spPr>
          <a:xfrm>
            <a:off x="499940" y="1988825"/>
            <a:ext cx="5943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PRESENTACIÓN FINAL CAPSTONE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 txBox="1"/>
          <p:nvPr/>
        </p:nvSpPr>
        <p:spPr>
          <a:xfrm>
            <a:off x="499940" y="2354585"/>
            <a:ext cx="5943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ambria"/>
              <a:buNone/>
            </a:pPr>
            <a:r>
              <a:rPr b="1" i="0" lang="en-US" sz="72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AgeCare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 txBox="1"/>
          <p:nvPr/>
        </p:nvSpPr>
        <p:spPr>
          <a:xfrm>
            <a:off x="499940" y="3543305"/>
            <a:ext cx="54864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Cuidado conectado para adultos mayores y sus familias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 txBox="1"/>
          <p:nvPr/>
        </p:nvSpPr>
        <p:spPr>
          <a:xfrm>
            <a:off x="499940" y="4549145"/>
            <a:ext cx="5669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Ingeniería en Informática · Escuela de Informática y Telecomunicaciones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548628" y="301735"/>
            <a:ext cx="2377500" cy="567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" name="Google Shape;2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85" y="438920"/>
            <a:ext cx="1828801" cy="2926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phone1.png" id="28" name="Google Shape;2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72600" y="1143000"/>
            <a:ext cx="2304288" cy="43251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phone9.png" id="29" name="Google Shape;29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60920" y="868680"/>
            <a:ext cx="2587752" cy="48646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"/>
          <p:cNvSpPr txBox="1"/>
          <p:nvPr>
            <p:ph type="title"/>
          </p:nvPr>
        </p:nvSpPr>
        <p:spPr>
          <a:xfrm>
            <a:off x="548640" y="64008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chemeClr val="accent1"/>
                </a:solidFill>
              </a:rPr>
              <a:t>Equipo del proyecto</a:t>
            </a:r>
            <a:endParaRPr sz="3200"/>
          </a:p>
        </p:txBody>
      </p:sp>
      <p:sp>
        <p:nvSpPr>
          <p:cNvPr id="36" name="Google Shape;36;p2"/>
          <p:cNvSpPr/>
          <p:nvPr/>
        </p:nvSpPr>
        <p:spPr>
          <a:xfrm>
            <a:off x="548640" y="1691640"/>
            <a:ext cx="2567178" cy="3749040"/>
          </a:xfrm>
          <a:prstGeom prst="roundRect">
            <a:avLst>
              <a:gd fmla="val 4987" name="adj"/>
            </a:avLst>
          </a:prstGeom>
          <a:solidFill>
            <a:schemeClr val="lt1"/>
          </a:solidFill>
          <a:ln>
            <a:noFill/>
          </a:ln>
          <a:effectLst>
            <a:outerShdw blurRad="1270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1146429" y="2103120"/>
            <a:ext cx="1371600" cy="1371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 txBox="1"/>
          <p:nvPr/>
        </p:nvSpPr>
        <p:spPr>
          <a:xfrm>
            <a:off x="1146429" y="2103120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mbria"/>
              <a:buNone/>
            </a:pPr>
            <a:r>
              <a:rPr b="1" lang="en-US" sz="36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CI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 txBox="1"/>
          <p:nvPr/>
        </p:nvSpPr>
        <p:spPr>
          <a:xfrm>
            <a:off x="685800" y="3657600"/>
            <a:ext cx="229285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mbria"/>
              <a:buNone/>
            </a:pPr>
            <a:r>
              <a:rPr b="1" lang="en-US" sz="2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Claudia Iosue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780669" y="4206240"/>
            <a:ext cx="2103120" cy="384048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 txBox="1"/>
          <p:nvPr/>
        </p:nvSpPr>
        <p:spPr>
          <a:xfrm>
            <a:off x="780669" y="4206240"/>
            <a:ext cx="2103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Scrum Master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 txBox="1"/>
          <p:nvPr/>
        </p:nvSpPr>
        <p:spPr>
          <a:xfrm>
            <a:off x="822960" y="4709160"/>
            <a:ext cx="201853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Facilita las ceremonias y el avance de los sprints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3390138" y="1691640"/>
            <a:ext cx="2567178" cy="3749040"/>
          </a:xfrm>
          <a:prstGeom prst="roundRect">
            <a:avLst>
              <a:gd fmla="val 4987" name="adj"/>
            </a:avLst>
          </a:prstGeom>
          <a:solidFill>
            <a:schemeClr val="lt1"/>
          </a:solidFill>
          <a:ln>
            <a:noFill/>
          </a:ln>
          <a:effectLst>
            <a:outerShdw blurRad="1270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3987927" y="2103120"/>
            <a:ext cx="1371600" cy="137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 txBox="1"/>
          <p:nvPr/>
        </p:nvSpPr>
        <p:spPr>
          <a:xfrm>
            <a:off x="3987927" y="2103120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mbria"/>
              <a:buNone/>
            </a:pPr>
            <a:r>
              <a:rPr b="1" lang="en-US" sz="36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FB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 txBox="1"/>
          <p:nvPr/>
        </p:nvSpPr>
        <p:spPr>
          <a:xfrm>
            <a:off x="3527298" y="3657600"/>
            <a:ext cx="229285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mbria"/>
              <a:buNone/>
            </a:pPr>
            <a:r>
              <a:rPr b="1" lang="en-US" sz="2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Franco Barra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3622167" y="4206240"/>
            <a:ext cx="2103120" cy="384048"/>
          </a:xfrm>
          <a:prstGeom prst="roundRect">
            <a:avLst>
              <a:gd fmla="val 5000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 txBox="1"/>
          <p:nvPr/>
        </p:nvSpPr>
        <p:spPr>
          <a:xfrm>
            <a:off x="3622167" y="4206240"/>
            <a:ext cx="2103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QA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 txBox="1"/>
          <p:nvPr/>
        </p:nvSpPr>
        <p:spPr>
          <a:xfrm>
            <a:off x="3664458" y="4709160"/>
            <a:ext cx="201853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Asegura la calidad de cada entrega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6231636" y="1691640"/>
            <a:ext cx="2567178" cy="3749040"/>
          </a:xfrm>
          <a:prstGeom prst="roundRect">
            <a:avLst>
              <a:gd fmla="val 4987" name="adj"/>
            </a:avLst>
          </a:prstGeom>
          <a:solidFill>
            <a:schemeClr val="lt1"/>
          </a:solidFill>
          <a:ln>
            <a:noFill/>
          </a:ln>
          <a:effectLst>
            <a:outerShdw blurRad="1270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6829425" y="2103120"/>
            <a:ext cx="1371600" cy="1371600"/>
          </a:xfrm>
          <a:prstGeom prst="ellipse">
            <a:avLst/>
          </a:prstGeom>
          <a:solidFill>
            <a:srgbClr val="3B6F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 txBox="1"/>
          <p:nvPr/>
        </p:nvSpPr>
        <p:spPr>
          <a:xfrm>
            <a:off x="6829425" y="2103120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mbria"/>
              <a:buNone/>
            </a:pPr>
            <a:r>
              <a:rPr b="1" lang="en-US" sz="36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CG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 txBox="1"/>
          <p:nvPr/>
        </p:nvSpPr>
        <p:spPr>
          <a:xfrm>
            <a:off x="6368796" y="3657600"/>
            <a:ext cx="229285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mbria"/>
              <a:buNone/>
            </a:pPr>
            <a:r>
              <a:rPr b="1" lang="en-US" sz="2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César Gacitua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6463665" y="4206240"/>
            <a:ext cx="2103120" cy="384048"/>
          </a:xfrm>
          <a:prstGeom prst="roundRect">
            <a:avLst>
              <a:gd fmla="val 50000" name="adj"/>
            </a:avLst>
          </a:prstGeom>
          <a:solidFill>
            <a:srgbClr val="E4EC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 txBox="1"/>
          <p:nvPr/>
        </p:nvSpPr>
        <p:spPr>
          <a:xfrm>
            <a:off x="6463665" y="4206240"/>
            <a:ext cx="2103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6FB6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3B6FB6"/>
                </a:solidFill>
                <a:latin typeface="Calibri"/>
                <a:ea typeface="Calibri"/>
                <a:cs typeface="Calibri"/>
                <a:sym typeface="Calibri"/>
              </a:rPr>
              <a:t>Backend developer / DevOps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 txBox="1"/>
          <p:nvPr/>
        </p:nvSpPr>
        <p:spPr>
          <a:xfrm>
            <a:off x="6505956" y="4709160"/>
            <a:ext cx="201853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Trabaja en backend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9073134" y="1691640"/>
            <a:ext cx="2567178" cy="3749040"/>
          </a:xfrm>
          <a:prstGeom prst="roundRect">
            <a:avLst>
              <a:gd fmla="val 4987" name="adj"/>
            </a:avLst>
          </a:prstGeom>
          <a:solidFill>
            <a:schemeClr val="lt1"/>
          </a:solidFill>
          <a:ln>
            <a:noFill/>
          </a:ln>
          <a:effectLst>
            <a:outerShdw blurRad="1270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9670923" y="2103120"/>
            <a:ext cx="1371600" cy="1371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"/>
          <p:cNvSpPr txBox="1"/>
          <p:nvPr/>
        </p:nvSpPr>
        <p:spPr>
          <a:xfrm>
            <a:off x="9670923" y="2103120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mbria"/>
              <a:buNone/>
            </a:pPr>
            <a:r>
              <a:rPr b="1" lang="en-US" sz="36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FV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 txBox="1"/>
          <p:nvPr/>
        </p:nvSpPr>
        <p:spPr>
          <a:xfrm>
            <a:off x="9210294" y="3657600"/>
            <a:ext cx="229285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mbria"/>
              <a:buNone/>
            </a:pPr>
            <a:r>
              <a:rPr b="1" lang="en-US" sz="2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Felipe Varas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9305163" y="4206240"/>
            <a:ext cx="2103120" cy="384048"/>
          </a:xfrm>
          <a:prstGeom prst="roundRect">
            <a:avLst>
              <a:gd fmla="val 50000" name="adj"/>
            </a:avLst>
          </a:prstGeom>
          <a:solidFill>
            <a:srgbClr val="FBE3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/>
          <p:cNvSpPr txBox="1"/>
          <p:nvPr/>
        </p:nvSpPr>
        <p:spPr>
          <a:xfrm>
            <a:off x="9305163" y="4206240"/>
            <a:ext cx="2103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Frontend developer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 txBox="1"/>
          <p:nvPr/>
        </p:nvSpPr>
        <p:spPr>
          <a:xfrm>
            <a:off x="9347454" y="4709160"/>
            <a:ext cx="201853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Construye la app móvil en Flutter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548640" y="5669280"/>
            <a:ext cx="11091672" cy="502920"/>
          </a:xfrm>
          <a:prstGeom prst="roundRect">
            <a:avLst>
              <a:gd fmla="val 21818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685800" y="5669280"/>
            <a:ext cx="502920" cy="502920"/>
          </a:xfrm>
          <a:prstGeom prst="roundRect">
            <a:avLst>
              <a:gd fmla="val 21818" name="adj"/>
            </a:avLst>
          </a:prstGeom>
          <a:solidFill>
            <a:srgbClr val="E2EF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6" name="Google Shape;6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1588" y="5805068"/>
            <a:ext cx="231343" cy="231343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2"/>
          <p:cNvSpPr txBox="1"/>
          <p:nvPr/>
        </p:nvSpPr>
        <p:spPr>
          <a:xfrm>
            <a:off x="1280160" y="5669280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Empresa: </a:t>
            </a:r>
            <a:r>
              <a:rPr lang="en-US"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Alloxentric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 txBox="1"/>
          <p:nvPr>
            <p:ph idx="4294967295" type="sldNum"/>
          </p:nvPr>
        </p:nvSpPr>
        <p:spPr>
          <a:xfrm>
            <a:off x="11274552" y="64008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00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"/>
          <p:cNvSpPr txBox="1"/>
          <p:nvPr>
            <p:ph type="title"/>
          </p:nvPr>
        </p:nvSpPr>
        <p:spPr>
          <a:xfrm>
            <a:off x="548640" y="64008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chemeClr val="accent1"/>
                </a:solidFill>
              </a:rPr>
              <a:t>Descripción del proyecto</a:t>
            </a:r>
            <a:endParaRPr sz="3200"/>
          </a:p>
        </p:txBody>
      </p:sp>
      <p:sp>
        <p:nvSpPr>
          <p:cNvPr id="75" name="Google Shape;75;p3"/>
          <p:cNvSpPr/>
          <p:nvPr/>
        </p:nvSpPr>
        <p:spPr>
          <a:xfrm>
            <a:off x="548640" y="1645920"/>
            <a:ext cx="5074920" cy="3063240"/>
          </a:xfrm>
          <a:prstGeom prst="roundRect">
            <a:avLst>
              <a:gd fmla="val 4179" name="adj"/>
            </a:avLst>
          </a:prstGeom>
          <a:solidFill>
            <a:schemeClr val="lt1"/>
          </a:solidFill>
          <a:ln>
            <a:noFill/>
          </a:ln>
          <a:effectLst>
            <a:outerShdw blurRad="1270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868680" y="1965960"/>
            <a:ext cx="566928" cy="566928"/>
          </a:xfrm>
          <a:prstGeom prst="roundRect">
            <a:avLst>
              <a:gd fmla="val 19355" name="adj"/>
            </a:avLst>
          </a:prstGeom>
          <a:solidFill>
            <a:srgbClr val="FBE3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7" name="Google Shape;7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1751" y="2119031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3"/>
          <p:cNvSpPr txBox="1"/>
          <p:nvPr/>
        </p:nvSpPr>
        <p:spPr>
          <a:xfrm>
            <a:off x="1600200" y="1993392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200"/>
              <a:buFont typeface="Cambria"/>
              <a:buNone/>
            </a:pPr>
            <a:r>
              <a:rPr b="1" lang="en-US" sz="2200">
                <a:solidFill>
                  <a:schemeClr val="accent3"/>
                </a:solidFill>
                <a:latin typeface="Cambria"/>
                <a:ea typeface="Cambria"/>
                <a:cs typeface="Cambria"/>
                <a:sym typeface="Cambria"/>
              </a:rPr>
              <a:t>El problema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 txBox="1"/>
          <p:nvPr/>
        </p:nvSpPr>
        <p:spPr>
          <a:xfrm>
            <a:off x="868680" y="2697480"/>
            <a:ext cx="44348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Poco orden y comunicación en el monitoreo de salud, las alertas, la coordinación del cuidado y la comunicación entre familiares, cuidadores y médicos de un adulto mayor en plena era digital. Poca oferta de espacios centralizados para familiares de adultos mayores a distancia.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5815584" y="2903220"/>
            <a:ext cx="548640" cy="5486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1" name="Google Shape;8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52744" y="30403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3"/>
          <p:cNvSpPr/>
          <p:nvPr/>
        </p:nvSpPr>
        <p:spPr>
          <a:xfrm>
            <a:off x="6556248" y="1645920"/>
            <a:ext cx="5074920" cy="3063240"/>
          </a:xfrm>
          <a:prstGeom prst="roundRect">
            <a:avLst>
              <a:gd fmla="val 4179" name="adj"/>
            </a:avLst>
          </a:prstGeom>
          <a:solidFill>
            <a:schemeClr val="accent1"/>
          </a:solidFill>
          <a:ln>
            <a:noFill/>
          </a:ln>
          <a:effectLst>
            <a:outerShdw blurRad="1270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6876288" y="1965960"/>
            <a:ext cx="566928" cy="566928"/>
          </a:xfrm>
          <a:prstGeom prst="roundRect">
            <a:avLst>
              <a:gd fmla="val 1935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4" name="Google Shape;84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29359" y="2119031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3"/>
          <p:cNvSpPr txBox="1"/>
          <p:nvPr/>
        </p:nvSpPr>
        <p:spPr>
          <a:xfrm>
            <a:off x="7607808" y="1993392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mbria"/>
              <a:buNone/>
            </a:pPr>
            <a:r>
              <a:rPr b="1" lang="en-US" sz="22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Nuestra propuesta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 txBox="1"/>
          <p:nvPr/>
        </p:nvSpPr>
        <p:spPr>
          <a:xfrm>
            <a:off x="6876288" y="2697480"/>
            <a:ext cx="44348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Proporcionar a las familias información confiable y en tiempo real sobre el bienestar de su ser querido, y al adulto mayor un medio accesible para mantenerse conectado, acompañado y activo. Ficha clínica digital.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 txBox="1"/>
          <p:nvPr/>
        </p:nvSpPr>
        <p:spPr>
          <a:xfrm>
            <a:off x="548640" y="49834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UNA APP, CUATRO ROLES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548640" y="5349240"/>
            <a:ext cx="2633472" cy="777240"/>
          </a:xfrm>
          <a:prstGeom prst="roundRect">
            <a:avLst>
              <a:gd fmla="val 16471" name="adj"/>
            </a:avLst>
          </a:prstGeom>
          <a:solidFill>
            <a:schemeClr val="lt1"/>
          </a:solidFill>
          <a:ln>
            <a:noFill/>
          </a:ln>
          <a:effectLst>
            <a:outerShdw blurRad="1270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713232" y="5458968"/>
            <a:ext cx="548640" cy="548640"/>
          </a:xfrm>
          <a:prstGeom prst="roundRect">
            <a:avLst>
              <a:gd fmla="val 20000" name="adj"/>
            </a:avLst>
          </a:prstGeom>
          <a:solidFill>
            <a:srgbClr val="E2EF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0" name="Google Shape;90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1365" y="5607101"/>
            <a:ext cx="252374" cy="252374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3"/>
          <p:cNvSpPr txBox="1"/>
          <p:nvPr/>
        </p:nvSpPr>
        <p:spPr>
          <a:xfrm>
            <a:off x="1417320" y="5349240"/>
            <a:ext cx="167335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Familiar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3364992" y="5349240"/>
            <a:ext cx="2633472" cy="777240"/>
          </a:xfrm>
          <a:prstGeom prst="roundRect">
            <a:avLst>
              <a:gd fmla="val 16471" name="adj"/>
            </a:avLst>
          </a:prstGeom>
          <a:solidFill>
            <a:schemeClr val="lt1"/>
          </a:solidFill>
          <a:ln>
            <a:noFill/>
          </a:ln>
          <a:effectLst>
            <a:outerShdw blurRad="1270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3529584" y="5458968"/>
            <a:ext cx="548640" cy="548640"/>
          </a:xfrm>
          <a:prstGeom prst="roundRect">
            <a:avLst>
              <a:gd fmla="val 20000" name="adj"/>
            </a:avLst>
          </a:prstGeom>
          <a:solidFill>
            <a:srgbClr val="ECE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4" name="Google Shape;94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77717" y="5607101"/>
            <a:ext cx="252374" cy="252374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3"/>
          <p:cNvSpPr txBox="1"/>
          <p:nvPr/>
        </p:nvSpPr>
        <p:spPr>
          <a:xfrm>
            <a:off x="4233672" y="5349240"/>
            <a:ext cx="167335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Cuidadora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6181344" y="5349240"/>
            <a:ext cx="2633472" cy="777240"/>
          </a:xfrm>
          <a:prstGeom prst="roundRect">
            <a:avLst>
              <a:gd fmla="val 16471" name="adj"/>
            </a:avLst>
          </a:prstGeom>
          <a:solidFill>
            <a:schemeClr val="lt1"/>
          </a:solidFill>
          <a:ln>
            <a:noFill/>
          </a:ln>
          <a:effectLst>
            <a:outerShdw blurRad="1270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"/>
          <p:cNvSpPr/>
          <p:nvPr/>
        </p:nvSpPr>
        <p:spPr>
          <a:xfrm>
            <a:off x="6345936" y="5458968"/>
            <a:ext cx="548640" cy="548640"/>
          </a:xfrm>
          <a:prstGeom prst="roundRect">
            <a:avLst>
              <a:gd fmla="val 20000" name="adj"/>
            </a:avLst>
          </a:prstGeom>
          <a:solidFill>
            <a:srgbClr val="FAEE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8" name="Google Shape;98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94069" y="5607101"/>
            <a:ext cx="252374" cy="252374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3"/>
          <p:cNvSpPr txBox="1"/>
          <p:nvPr/>
        </p:nvSpPr>
        <p:spPr>
          <a:xfrm>
            <a:off x="7050024" y="5349240"/>
            <a:ext cx="167335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Adulto mayor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8997696" y="5349240"/>
            <a:ext cx="2633472" cy="777240"/>
          </a:xfrm>
          <a:prstGeom prst="roundRect">
            <a:avLst>
              <a:gd fmla="val 16471" name="adj"/>
            </a:avLst>
          </a:prstGeom>
          <a:solidFill>
            <a:schemeClr val="lt1"/>
          </a:solidFill>
          <a:ln>
            <a:noFill/>
          </a:ln>
          <a:effectLst>
            <a:outerShdw blurRad="1270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9162288" y="5458968"/>
            <a:ext cx="548640" cy="548640"/>
          </a:xfrm>
          <a:prstGeom prst="roundRect">
            <a:avLst>
              <a:gd fmla="val 20000" name="adj"/>
            </a:avLst>
          </a:prstGeom>
          <a:solidFill>
            <a:srgbClr val="E4EC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2" name="Google Shape;102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310421" y="5607101"/>
            <a:ext cx="252374" cy="252374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3"/>
          <p:cNvSpPr txBox="1"/>
          <p:nvPr/>
        </p:nvSpPr>
        <p:spPr>
          <a:xfrm>
            <a:off x="9866376" y="5349240"/>
            <a:ext cx="167335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Médico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 txBox="1"/>
          <p:nvPr>
            <p:ph idx="4294967295" type="sldNum"/>
          </p:nvPr>
        </p:nvSpPr>
        <p:spPr>
          <a:xfrm>
            <a:off x="11274552" y="64008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00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/>
          <p:nvPr>
            <p:ph type="title"/>
          </p:nvPr>
        </p:nvSpPr>
        <p:spPr>
          <a:xfrm>
            <a:off x="548640" y="64008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chemeClr val="accent1"/>
                </a:solidFill>
              </a:rPr>
              <a:t>Objetivos</a:t>
            </a:r>
            <a:endParaRPr sz="3200"/>
          </a:p>
        </p:txBody>
      </p:sp>
      <p:sp>
        <p:nvSpPr>
          <p:cNvPr id="111" name="Google Shape;111;p4"/>
          <p:cNvSpPr/>
          <p:nvPr/>
        </p:nvSpPr>
        <p:spPr>
          <a:xfrm>
            <a:off x="548640" y="1554480"/>
            <a:ext cx="11091672" cy="1371600"/>
          </a:xfrm>
          <a:prstGeom prst="roundRect">
            <a:avLst>
              <a:gd fmla="val 9333" name="adj"/>
            </a:avLst>
          </a:prstGeom>
          <a:solidFill>
            <a:schemeClr val="accent1"/>
          </a:solidFill>
          <a:ln>
            <a:noFill/>
          </a:ln>
          <a:effectLst>
            <a:outerShdw blurRad="1270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822960" y="1783080"/>
            <a:ext cx="566928" cy="566928"/>
          </a:xfrm>
          <a:prstGeom prst="roundRect">
            <a:avLst>
              <a:gd fmla="val 1935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3" name="Google Shape;11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6031" y="1936151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4"/>
          <p:cNvSpPr txBox="1"/>
          <p:nvPr/>
        </p:nvSpPr>
        <p:spPr>
          <a:xfrm>
            <a:off x="1600200" y="16916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 txBox="1"/>
          <p:nvPr/>
        </p:nvSpPr>
        <p:spPr>
          <a:xfrm>
            <a:off x="1600200" y="1965960"/>
            <a:ext cx="9829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Desarrollar una plataforma digital integral de cuidado de adultos mayores que centralice el monitoreo de salud, las alertas, la coordinación del cuidado y la comunicación entre familiares, cuidadores, médicos y el propio adulto mayor, con el fin de proporcionar a las familias que cuidan a distancia información confiable y en tiempo real sobre el bienestar de su ser querido, y al adulto mayor un medio accesible para mantenerse conectado, acompañado y activo.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548640" y="3154680"/>
            <a:ext cx="3511296" cy="3108960"/>
          </a:xfrm>
          <a:prstGeom prst="roundRect">
            <a:avLst>
              <a:gd fmla="val 4118" name="adj"/>
            </a:avLst>
          </a:prstGeom>
          <a:solidFill>
            <a:schemeClr val="lt1"/>
          </a:solidFill>
          <a:ln>
            <a:noFill/>
          </a:ln>
          <a:effectLst>
            <a:outerShdw blurRad="1270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"/>
          <p:cNvSpPr/>
          <p:nvPr/>
        </p:nvSpPr>
        <p:spPr>
          <a:xfrm>
            <a:off x="822960" y="3429000"/>
            <a:ext cx="566928" cy="566928"/>
          </a:xfrm>
          <a:prstGeom prst="roundRect">
            <a:avLst>
              <a:gd fmla="val 19355" name="adj"/>
            </a:avLst>
          </a:prstGeom>
          <a:solidFill>
            <a:srgbClr val="E2EF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8" name="Google Shape;11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6031" y="3582071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4"/>
          <p:cNvSpPr txBox="1"/>
          <p:nvPr/>
        </p:nvSpPr>
        <p:spPr>
          <a:xfrm>
            <a:off x="1554480" y="3429000"/>
            <a:ext cx="2322576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mbria"/>
              <a:buNone/>
            </a:pPr>
            <a:r>
              <a:rPr b="1" lang="en-US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Expediente único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 txBox="1"/>
          <p:nvPr/>
        </p:nvSpPr>
        <p:spPr>
          <a:xfrm>
            <a:off x="822960" y="4178808"/>
            <a:ext cx="2962656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Consolidar la información de salud del adulto mayor —signos vitales del wearable, adherencia a medicamentos, observaciones de la cuidadora, incidentes y documentos médicos— en un expediente compartido, con semáforo de bienestar diario y soporte multi-paciente.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4334256" y="3154680"/>
            <a:ext cx="3511296" cy="3108960"/>
          </a:xfrm>
          <a:prstGeom prst="roundRect">
            <a:avLst>
              <a:gd fmla="val 4118" name="adj"/>
            </a:avLst>
          </a:prstGeom>
          <a:solidFill>
            <a:schemeClr val="lt1"/>
          </a:solidFill>
          <a:ln>
            <a:noFill/>
          </a:ln>
          <a:effectLst>
            <a:outerShdw blurRad="1270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4608576" y="3429000"/>
            <a:ext cx="566928" cy="566928"/>
          </a:xfrm>
          <a:prstGeom prst="roundRect">
            <a:avLst>
              <a:gd fmla="val 19355" name="adj"/>
            </a:avLst>
          </a:prstGeom>
          <a:solidFill>
            <a:srgbClr val="FBE3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3" name="Google Shape;123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1647" y="3582071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4"/>
          <p:cNvSpPr txBox="1"/>
          <p:nvPr/>
        </p:nvSpPr>
        <p:spPr>
          <a:xfrm>
            <a:off x="5340096" y="3429000"/>
            <a:ext cx="2322576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mbria"/>
              <a:buNone/>
            </a:pPr>
            <a:r>
              <a:rPr b="1" lang="en-US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Alertas en tiempo real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 txBox="1"/>
          <p:nvPr/>
        </p:nvSpPr>
        <p:spPr>
          <a:xfrm>
            <a:off x="4608576" y="4178808"/>
            <a:ext cx="2962656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Notificaciones push con umbrales configurables ante eventos críticos: caída detectada, signo vital fuera de rango y medicamento no administrado. Incluye flujo de acción inmediata ante caídas y botón SOS.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8119872" y="3154680"/>
            <a:ext cx="3511296" cy="3108960"/>
          </a:xfrm>
          <a:prstGeom prst="roundRect">
            <a:avLst>
              <a:gd fmla="val 4118" name="adj"/>
            </a:avLst>
          </a:prstGeom>
          <a:solidFill>
            <a:schemeClr val="lt1"/>
          </a:solidFill>
          <a:ln>
            <a:noFill/>
          </a:ln>
          <a:effectLst>
            <a:outerShdw blurRad="1270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8394192" y="3429000"/>
            <a:ext cx="566928" cy="566928"/>
          </a:xfrm>
          <a:prstGeom prst="roundRect">
            <a:avLst>
              <a:gd fmla="val 19355" name="adj"/>
            </a:avLst>
          </a:prstGeom>
          <a:solidFill>
            <a:srgbClr val="FAEE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8" name="Google Shape;128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47263" y="3582071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4"/>
          <p:cNvSpPr txBox="1"/>
          <p:nvPr/>
        </p:nvSpPr>
        <p:spPr>
          <a:xfrm>
            <a:off x="9125712" y="3429000"/>
            <a:ext cx="2322576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mbria"/>
              <a:buNone/>
            </a:pPr>
            <a:r>
              <a:rPr b="1" lang="en-US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Ciclo de medicación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 txBox="1"/>
          <p:nvPr/>
        </p:nvSpPr>
        <p:spPr>
          <a:xfrm>
            <a:off x="8394192" y="4178808"/>
            <a:ext cx="2962656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 definido por la cuidadora o el médico, digitalización de recetas mediante OCR, alarmas de tomas, confirmación de dosis y visualización de la adherencia por parte del familiar.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 txBox="1"/>
          <p:nvPr>
            <p:ph idx="4294967295" type="sldNum"/>
          </p:nvPr>
        </p:nvSpPr>
        <p:spPr>
          <a:xfrm>
            <a:off x="11274552" y="64008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00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"/>
          <p:cNvSpPr txBox="1"/>
          <p:nvPr>
            <p:ph type="title"/>
          </p:nvPr>
        </p:nvSpPr>
        <p:spPr>
          <a:xfrm>
            <a:off x="548640" y="64008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chemeClr val="accent1"/>
                </a:solidFill>
              </a:rPr>
              <a:t>Alcance y limitaciones</a:t>
            </a:r>
            <a:endParaRPr sz="3200"/>
          </a:p>
        </p:txBody>
      </p:sp>
      <p:sp>
        <p:nvSpPr>
          <p:cNvPr id="138" name="Google Shape;138;p5"/>
          <p:cNvSpPr/>
          <p:nvPr/>
        </p:nvSpPr>
        <p:spPr>
          <a:xfrm>
            <a:off x="548640" y="1600200"/>
            <a:ext cx="3840480" cy="1371600"/>
          </a:xfrm>
          <a:prstGeom prst="roundRect">
            <a:avLst>
              <a:gd fmla="val 9333" name="adj"/>
            </a:avLst>
          </a:prstGeom>
          <a:solidFill>
            <a:schemeClr val="lt1"/>
          </a:solidFill>
          <a:ln>
            <a:noFill/>
          </a:ln>
          <a:effectLst>
            <a:outerShdw blurRad="1270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"/>
          <p:cNvSpPr txBox="1"/>
          <p:nvPr/>
        </p:nvSpPr>
        <p:spPr>
          <a:xfrm>
            <a:off x="822960" y="1600200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Cambria"/>
              <a:buNone/>
            </a:pPr>
            <a:r>
              <a:rPr b="1" lang="en-US" sz="4800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 txBox="1"/>
          <p:nvPr/>
        </p:nvSpPr>
        <p:spPr>
          <a:xfrm>
            <a:off x="2148840" y="1600200"/>
            <a:ext cx="2057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sprints de dos semanas: 10 semanas (2,5 meses) para la versión 1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548640" y="3200400"/>
            <a:ext cx="3840480" cy="1371600"/>
          </a:xfrm>
          <a:prstGeom prst="roundRect">
            <a:avLst>
              <a:gd fmla="val 9333" name="adj"/>
            </a:avLst>
          </a:prstGeom>
          <a:solidFill>
            <a:schemeClr val="lt1"/>
          </a:solidFill>
          <a:ln>
            <a:noFill/>
          </a:ln>
          <a:effectLst>
            <a:outerShdw blurRad="1270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"/>
          <p:cNvSpPr txBox="1"/>
          <p:nvPr/>
        </p:nvSpPr>
        <p:spPr>
          <a:xfrm>
            <a:off x="822960" y="3200400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Cambria"/>
              <a:buNone/>
            </a:pPr>
            <a:r>
              <a:rPr b="1" lang="en-US" sz="4800">
                <a:solidFill>
                  <a:schemeClr val="accent2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 txBox="1"/>
          <p:nvPr/>
        </p:nvSpPr>
        <p:spPr>
          <a:xfrm>
            <a:off x="2148840" y="3200400"/>
            <a:ext cx="2057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sprint en que comienza el piloto con usuarios reales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548640" y="4800600"/>
            <a:ext cx="3840480" cy="1371600"/>
          </a:xfrm>
          <a:prstGeom prst="roundRect">
            <a:avLst>
              <a:gd fmla="val 9333" name="adj"/>
            </a:avLst>
          </a:prstGeom>
          <a:solidFill>
            <a:schemeClr val="lt1"/>
          </a:solidFill>
          <a:ln>
            <a:noFill/>
          </a:ln>
          <a:effectLst>
            <a:outerShdw blurRad="1270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"/>
          <p:cNvSpPr txBox="1"/>
          <p:nvPr/>
        </p:nvSpPr>
        <p:spPr>
          <a:xfrm>
            <a:off x="822960" y="4800600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Cambria"/>
              <a:buNone/>
            </a:pPr>
            <a:r>
              <a:rPr b="1" lang="en-US" sz="4800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 txBox="1"/>
          <p:nvPr/>
        </p:nvSpPr>
        <p:spPr>
          <a:xfrm>
            <a:off x="2148840" y="4800600"/>
            <a:ext cx="2057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tiendas de destino: App Store y Google Play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4663440" y="1600200"/>
            <a:ext cx="6976872" cy="2697480"/>
          </a:xfrm>
          <a:prstGeom prst="roundRect">
            <a:avLst>
              <a:gd fmla="val 4746" name="adj"/>
            </a:avLst>
          </a:prstGeom>
          <a:solidFill>
            <a:schemeClr val="lt1"/>
          </a:solidFill>
          <a:ln>
            <a:noFill/>
          </a:ln>
          <a:effectLst>
            <a:outerShdw blurRad="1270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"/>
          <p:cNvSpPr/>
          <p:nvPr/>
        </p:nvSpPr>
        <p:spPr>
          <a:xfrm>
            <a:off x="4937760" y="1828800"/>
            <a:ext cx="548640" cy="548640"/>
          </a:xfrm>
          <a:prstGeom prst="roundRect">
            <a:avLst>
              <a:gd fmla="val 20000" name="adj"/>
            </a:avLst>
          </a:prstGeom>
          <a:solidFill>
            <a:srgbClr val="E2EF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9" name="Google Shape;14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85893" y="1976933"/>
            <a:ext cx="252374" cy="25237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5"/>
          <p:cNvSpPr txBox="1"/>
          <p:nvPr/>
        </p:nvSpPr>
        <p:spPr>
          <a:xfrm>
            <a:off x="5669280" y="1828800"/>
            <a:ext cx="569671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mbria"/>
              <a:buNone/>
            </a:pPr>
            <a:r>
              <a:rPr b="1" lang="en-US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Nuestro alcance: frontend de la aplicación móvil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4937760" y="2606040"/>
            <a:ext cx="2020824" cy="384048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"/>
          <p:cNvSpPr txBox="1"/>
          <p:nvPr/>
        </p:nvSpPr>
        <p:spPr>
          <a:xfrm>
            <a:off x="4937760" y="2606040"/>
            <a:ext cx="202082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Monitoreo de salud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7141464" y="2606040"/>
            <a:ext cx="2020824" cy="384048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"/>
          <p:cNvSpPr txBox="1"/>
          <p:nvPr/>
        </p:nvSpPr>
        <p:spPr>
          <a:xfrm>
            <a:off x="7141464" y="2606040"/>
            <a:ext cx="202082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Alertas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9345168" y="2606040"/>
            <a:ext cx="2020824" cy="384048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"/>
          <p:cNvSpPr txBox="1"/>
          <p:nvPr/>
        </p:nvSpPr>
        <p:spPr>
          <a:xfrm>
            <a:off x="9345168" y="2606040"/>
            <a:ext cx="202082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Medicamentos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4937760" y="3154680"/>
            <a:ext cx="2020824" cy="384048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5"/>
          <p:cNvSpPr txBox="1"/>
          <p:nvPr/>
        </p:nvSpPr>
        <p:spPr>
          <a:xfrm>
            <a:off x="4937760" y="3154680"/>
            <a:ext cx="202082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Chat + asistente IA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7141464" y="3154680"/>
            <a:ext cx="2020824" cy="384048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"/>
          <p:cNvSpPr txBox="1"/>
          <p:nvPr/>
        </p:nvSpPr>
        <p:spPr>
          <a:xfrm>
            <a:off x="7141464" y="3154680"/>
            <a:ext cx="202082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Vista adulto mayor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9345168" y="3154680"/>
            <a:ext cx="2020824" cy="384048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"/>
          <p:cNvSpPr txBox="1"/>
          <p:nvPr/>
        </p:nvSpPr>
        <p:spPr>
          <a:xfrm>
            <a:off x="9345168" y="3154680"/>
            <a:ext cx="202082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Vista cuidadora (freemium)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4937760" y="3703320"/>
            <a:ext cx="2020824" cy="384048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5"/>
          <p:cNvSpPr txBox="1"/>
          <p:nvPr/>
        </p:nvSpPr>
        <p:spPr>
          <a:xfrm>
            <a:off x="4937760" y="3703320"/>
            <a:ext cx="202082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Marketplace vitrina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4663440" y="4526280"/>
            <a:ext cx="6976872" cy="1691640"/>
          </a:xfrm>
          <a:prstGeom prst="roundRect">
            <a:avLst>
              <a:gd fmla="val 7568" name="adj"/>
            </a:avLst>
          </a:prstGeom>
          <a:solidFill>
            <a:schemeClr val="lt1"/>
          </a:solidFill>
          <a:ln>
            <a:noFill/>
          </a:ln>
          <a:effectLst>
            <a:outerShdw blurRad="1270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5"/>
          <p:cNvSpPr/>
          <p:nvPr/>
        </p:nvSpPr>
        <p:spPr>
          <a:xfrm>
            <a:off x="4937760" y="4709160"/>
            <a:ext cx="548640" cy="548640"/>
          </a:xfrm>
          <a:prstGeom prst="roundRect">
            <a:avLst>
              <a:gd fmla="val 20000" name="adj"/>
            </a:avLst>
          </a:prstGeom>
          <a:solidFill>
            <a:srgbClr val="FBE3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7" name="Google Shape;16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85893" y="4857293"/>
            <a:ext cx="252374" cy="252374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5"/>
          <p:cNvSpPr txBox="1"/>
          <p:nvPr/>
        </p:nvSpPr>
        <p:spPr>
          <a:xfrm>
            <a:off x="5669280" y="4709160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Cambria"/>
              <a:buNone/>
            </a:pPr>
            <a:r>
              <a:rPr b="1" lang="en-US" sz="1900">
                <a:solidFill>
                  <a:schemeClr val="accent3"/>
                </a:solidFill>
                <a:latin typeface="Cambria"/>
                <a:ea typeface="Cambria"/>
                <a:cs typeface="Cambria"/>
                <a:sym typeface="Cambria"/>
              </a:rPr>
              <a:t>Limitaciones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 txBox="1"/>
          <p:nvPr/>
        </p:nvSpPr>
        <p:spPr>
          <a:xfrm>
            <a:off x="4937760" y="5349240"/>
            <a:ext cx="6428232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Backend y web de administración a cargo de otro equipo.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Dependencia de la entrega de endpoints: avanzamos con mocks mientras la API real está disponible.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 txBox="1"/>
          <p:nvPr>
            <p:ph idx="4294967295" type="sldNum"/>
          </p:nvPr>
        </p:nvSpPr>
        <p:spPr>
          <a:xfrm>
            <a:off x="11274552" y="64008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00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"/>
          <p:cNvSpPr txBox="1"/>
          <p:nvPr>
            <p:ph type="title"/>
          </p:nvPr>
        </p:nvSpPr>
        <p:spPr>
          <a:xfrm>
            <a:off x="548640" y="64008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chemeClr val="accent1"/>
                </a:solidFill>
              </a:rPr>
              <a:t>Metodología: Scrum</a:t>
            </a:r>
            <a:endParaRPr sz="3200"/>
          </a:p>
        </p:txBody>
      </p:sp>
      <p:sp>
        <p:nvSpPr>
          <p:cNvPr id="177" name="Google Shape;177;p6"/>
          <p:cNvSpPr/>
          <p:nvPr/>
        </p:nvSpPr>
        <p:spPr>
          <a:xfrm>
            <a:off x="548640" y="1554480"/>
            <a:ext cx="11091672" cy="1051560"/>
          </a:xfrm>
          <a:prstGeom prst="roundRect">
            <a:avLst>
              <a:gd fmla="val 12174" name="adj"/>
            </a:avLst>
          </a:prstGeom>
          <a:solidFill>
            <a:schemeClr val="accent5"/>
          </a:solidFill>
          <a:ln>
            <a:noFill/>
          </a:ln>
          <a:effectLst>
            <a:outerShdw blurRad="1270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"/>
          <p:cNvSpPr/>
          <p:nvPr/>
        </p:nvSpPr>
        <p:spPr>
          <a:xfrm>
            <a:off x="822960" y="1801368"/>
            <a:ext cx="548640" cy="548640"/>
          </a:xfrm>
          <a:prstGeom prst="roundRect">
            <a:avLst>
              <a:gd fmla="val 2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9" name="Google Shape;17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1093" y="1949501"/>
            <a:ext cx="252374" cy="252374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6"/>
          <p:cNvSpPr txBox="1"/>
          <p:nvPr/>
        </p:nvSpPr>
        <p:spPr>
          <a:xfrm>
            <a:off x="1600200" y="1554480"/>
            <a:ext cx="97840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lang="en-US" sz="1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Trabajamos sobre los tickets </a:t>
            </a:r>
            <a:r>
              <a:rPr b="1" lang="en-US" sz="15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AGE-XXX</a:t>
            </a:r>
            <a:r>
              <a:rPr lang="en-US" sz="1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ya definidos por Alloxentric / Wellq Co en su Plan de Desarrollo v1 (rol APP/APP-R, frontend móvil), cada uno con criterios de aceptación. No redactamos historias desde cero.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548640" y="2880360"/>
            <a:ext cx="2514600" cy="2514600"/>
          </a:xfrm>
          <a:prstGeom prst="roundRect">
            <a:avLst>
              <a:gd fmla="val 5091" name="adj"/>
            </a:avLst>
          </a:prstGeom>
          <a:solidFill>
            <a:schemeClr val="lt1"/>
          </a:solidFill>
          <a:ln>
            <a:noFill/>
          </a:ln>
          <a:effectLst>
            <a:outerShdw blurRad="1270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6"/>
          <p:cNvSpPr txBox="1"/>
          <p:nvPr/>
        </p:nvSpPr>
        <p:spPr>
          <a:xfrm>
            <a:off x="777240" y="306324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1440180" y="3291840"/>
            <a:ext cx="731520" cy="731520"/>
          </a:xfrm>
          <a:prstGeom prst="roundRect">
            <a:avLst>
              <a:gd fmla="val 15000" name="adj"/>
            </a:avLst>
          </a:prstGeom>
          <a:solidFill>
            <a:srgbClr val="E2EF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4" name="Google Shape;18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7690" y="3489350"/>
            <a:ext cx="336499" cy="336499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6"/>
          <p:cNvSpPr txBox="1"/>
          <p:nvPr/>
        </p:nvSpPr>
        <p:spPr>
          <a:xfrm>
            <a:off x="685800" y="4206240"/>
            <a:ext cx="2240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</a:pPr>
            <a:r>
              <a:rPr b="1" lang="en-US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Planning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 txBox="1"/>
          <p:nvPr/>
        </p:nvSpPr>
        <p:spPr>
          <a:xfrm>
            <a:off x="777240" y="4663440"/>
            <a:ext cx="2057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Al inicio de cada sprint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7" name="Google Shape;187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36392" y="403707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6"/>
          <p:cNvSpPr/>
          <p:nvPr/>
        </p:nvSpPr>
        <p:spPr>
          <a:xfrm>
            <a:off x="3407969" y="2880360"/>
            <a:ext cx="2514600" cy="2514600"/>
          </a:xfrm>
          <a:prstGeom prst="roundRect">
            <a:avLst>
              <a:gd fmla="val 5091" name="adj"/>
            </a:avLst>
          </a:prstGeom>
          <a:solidFill>
            <a:schemeClr val="lt1"/>
          </a:solidFill>
          <a:ln>
            <a:noFill/>
          </a:ln>
          <a:effectLst>
            <a:outerShdw blurRad="1270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6"/>
          <p:cNvSpPr txBox="1"/>
          <p:nvPr/>
        </p:nvSpPr>
        <p:spPr>
          <a:xfrm>
            <a:off x="3636569" y="306324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4299509" y="3291840"/>
            <a:ext cx="731520" cy="731520"/>
          </a:xfrm>
          <a:prstGeom prst="roundRect">
            <a:avLst>
              <a:gd fmla="val 15000" name="adj"/>
            </a:avLst>
          </a:prstGeom>
          <a:solidFill>
            <a:srgbClr val="E2EF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1" name="Google Shape;191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97019" y="3489350"/>
            <a:ext cx="336499" cy="336499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6"/>
          <p:cNvSpPr txBox="1"/>
          <p:nvPr/>
        </p:nvSpPr>
        <p:spPr>
          <a:xfrm>
            <a:off x="3545129" y="4206240"/>
            <a:ext cx="2240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</a:pPr>
            <a:r>
              <a:rPr b="1" lang="en-US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Daily stand-up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 txBox="1"/>
          <p:nvPr/>
        </p:nvSpPr>
        <p:spPr>
          <a:xfrm>
            <a:off x="3636569" y="4663440"/>
            <a:ext cx="2057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Corto, async si no calza el horario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4" name="Google Shape;194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95721" y="403707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6"/>
          <p:cNvSpPr/>
          <p:nvPr/>
        </p:nvSpPr>
        <p:spPr>
          <a:xfrm>
            <a:off x="6267298" y="2880360"/>
            <a:ext cx="2514600" cy="2514600"/>
          </a:xfrm>
          <a:prstGeom prst="roundRect">
            <a:avLst>
              <a:gd fmla="val 5091" name="adj"/>
            </a:avLst>
          </a:prstGeom>
          <a:solidFill>
            <a:schemeClr val="lt1"/>
          </a:solidFill>
          <a:ln>
            <a:noFill/>
          </a:ln>
          <a:effectLst>
            <a:outerShdw blurRad="1270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6"/>
          <p:cNvSpPr txBox="1"/>
          <p:nvPr/>
        </p:nvSpPr>
        <p:spPr>
          <a:xfrm>
            <a:off x="6495898" y="306324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7158838" y="3291840"/>
            <a:ext cx="731520" cy="731520"/>
          </a:xfrm>
          <a:prstGeom prst="roundRect">
            <a:avLst>
              <a:gd fmla="val 15000" name="adj"/>
            </a:avLst>
          </a:prstGeom>
          <a:solidFill>
            <a:srgbClr val="E2EF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8" name="Google Shape;198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56348" y="3489350"/>
            <a:ext cx="336499" cy="336499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6"/>
          <p:cNvSpPr txBox="1"/>
          <p:nvPr/>
        </p:nvSpPr>
        <p:spPr>
          <a:xfrm>
            <a:off x="6404458" y="4206240"/>
            <a:ext cx="2240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</a:pPr>
            <a:r>
              <a:rPr b="1" lang="en-US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Review / demo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 txBox="1"/>
          <p:nvPr/>
        </p:nvSpPr>
        <p:spPr>
          <a:xfrm>
            <a:off x="6495898" y="4663440"/>
            <a:ext cx="2057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Al cierre del sprint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1" name="Google Shape;201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55050" y="403707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6"/>
          <p:cNvSpPr/>
          <p:nvPr/>
        </p:nvSpPr>
        <p:spPr>
          <a:xfrm>
            <a:off x="9126626" y="2880360"/>
            <a:ext cx="2514600" cy="2514600"/>
          </a:xfrm>
          <a:prstGeom prst="roundRect">
            <a:avLst>
              <a:gd fmla="val 5091" name="adj"/>
            </a:avLst>
          </a:prstGeom>
          <a:solidFill>
            <a:schemeClr val="lt1"/>
          </a:solidFill>
          <a:ln>
            <a:noFill/>
          </a:ln>
          <a:effectLst>
            <a:outerShdw blurRad="1270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6"/>
          <p:cNvSpPr txBox="1"/>
          <p:nvPr/>
        </p:nvSpPr>
        <p:spPr>
          <a:xfrm>
            <a:off x="9355226" y="306324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10018166" y="3291840"/>
            <a:ext cx="731520" cy="731520"/>
          </a:xfrm>
          <a:prstGeom prst="roundRect">
            <a:avLst>
              <a:gd fmla="val 15000" name="adj"/>
            </a:avLst>
          </a:prstGeom>
          <a:solidFill>
            <a:srgbClr val="E2EF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5" name="Google Shape;205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215677" y="3489350"/>
            <a:ext cx="336499" cy="33649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6"/>
          <p:cNvSpPr txBox="1"/>
          <p:nvPr/>
        </p:nvSpPr>
        <p:spPr>
          <a:xfrm>
            <a:off x="9263786" y="4206240"/>
            <a:ext cx="2240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</a:pPr>
            <a:r>
              <a:rPr b="1" lang="en-US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Retrospectiva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 txBox="1"/>
          <p:nvPr/>
        </p:nvSpPr>
        <p:spPr>
          <a:xfrm>
            <a:off x="9355226" y="4663440"/>
            <a:ext cx="2057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Mejora continua del equipo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3717036" y="5669280"/>
            <a:ext cx="4754880" cy="438912"/>
          </a:xfrm>
          <a:prstGeom prst="roundRect">
            <a:avLst>
              <a:gd fmla="val 5000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9" name="Google Shape;209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945636" y="5779008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6"/>
          <p:cNvSpPr txBox="1"/>
          <p:nvPr/>
        </p:nvSpPr>
        <p:spPr>
          <a:xfrm>
            <a:off x="4265676" y="5669280"/>
            <a:ext cx="41148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A12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7A4A12"/>
                </a:solidFill>
                <a:latin typeface="Calibri"/>
                <a:ea typeface="Calibri"/>
                <a:cs typeface="Calibri"/>
                <a:sym typeface="Calibri"/>
              </a:rPr>
              <a:t>Ciclo que se repite en cada uno de los 5 sprints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6"/>
          <p:cNvSpPr txBox="1"/>
          <p:nvPr>
            <p:ph idx="4294967295" type="sldNum"/>
          </p:nvPr>
        </p:nvSpPr>
        <p:spPr>
          <a:xfrm>
            <a:off x="11274552" y="64008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00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7"/>
          <p:cNvSpPr txBox="1"/>
          <p:nvPr>
            <p:ph type="title"/>
          </p:nvPr>
        </p:nvSpPr>
        <p:spPr>
          <a:xfrm>
            <a:off x="548640" y="64008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chemeClr val="accent1"/>
                </a:solidFill>
              </a:rPr>
              <a:t>Flujo de desarrollo y entregas</a:t>
            </a:r>
            <a:endParaRPr sz="3200"/>
          </a:p>
        </p:txBody>
      </p:sp>
      <p:sp>
        <p:nvSpPr>
          <p:cNvPr id="218" name="Google Shape;218;p7"/>
          <p:cNvSpPr/>
          <p:nvPr/>
        </p:nvSpPr>
        <p:spPr>
          <a:xfrm>
            <a:off x="548640" y="1691640"/>
            <a:ext cx="1965960" cy="1920240"/>
          </a:xfrm>
          <a:prstGeom prst="roundRect">
            <a:avLst>
              <a:gd fmla="val 6667" name="adj"/>
            </a:avLst>
          </a:prstGeom>
          <a:solidFill>
            <a:schemeClr val="lt1"/>
          </a:solidFill>
          <a:ln>
            <a:noFill/>
          </a:ln>
          <a:effectLst>
            <a:outerShdw blurRad="1270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7"/>
          <p:cNvSpPr/>
          <p:nvPr/>
        </p:nvSpPr>
        <p:spPr>
          <a:xfrm>
            <a:off x="1248156" y="1965960"/>
            <a:ext cx="566928" cy="566928"/>
          </a:xfrm>
          <a:prstGeom prst="roundRect">
            <a:avLst>
              <a:gd fmla="val 19355" name="adj"/>
            </a:avLst>
          </a:prstGeom>
          <a:solidFill>
            <a:srgbClr val="E2EF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0" name="Google Shape;22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1227" y="2119031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7"/>
          <p:cNvSpPr txBox="1"/>
          <p:nvPr/>
        </p:nvSpPr>
        <p:spPr>
          <a:xfrm>
            <a:off x="640080" y="2651760"/>
            <a:ext cx="1783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Ticket en Jira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 txBox="1"/>
          <p:nvPr/>
        </p:nvSpPr>
        <p:spPr>
          <a:xfrm>
            <a:off x="640080" y="3017520"/>
            <a:ext cx="1783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Tablero SCRUM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3" name="Google Shape;22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78608" y="256032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7"/>
          <p:cNvSpPr/>
          <p:nvPr/>
        </p:nvSpPr>
        <p:spPr>
          <a:xfrm>
            <a:off x="2830068" y="1691640"/>
            <a:ext cx="1965960" cy="1920240"/>
          </a:xfrm>
          <a:prstGeom prst="roundRect">
            <a:avLst>
              <a:gd fmla="val 6667" name="adj"/>
            </a:avLst>
          </a:prstGeom>
          <a:solidFill>
            <a:schemeClr val="lt1"/>
          </a:solidFill>
          <a:ln>
            <a:noFill/>
          </a:ln>
          <a:effectLst>
            <a:outerShdw blurRad="1270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7"/>
          <p:cNvSpPr/>
          <p:nvPr/>
        </p:nvSpPr>
        <p:spPr>
          <a:xfrm>
            <a:off x="3529584" y="1965960"/>
            <a:ext cx="566928" cy="566928"/>
          </a:xfrm>
          <a:prstGeom prst="roundRect">
            <a:avLst>
              <a:gd fmla="val 19355" name="adj"/>
            </a:avLst>
          </a:prstGeom>
          <a:solidFill>
            <a:srgbClr val="E2EF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6" name="Google Shape;226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82655" y="2119031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7"/>
          <p:cNvSpPr txBox="1"/>
          <p:nvPr/>
        </p:nvSpPr>
        <p:spPr>
          <a:xfrm>
            <a:off x="2921508" y="2651760"/>
            <a:ext cx="1783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Rama por ticket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 txBox="1"/>
          <p:nvPr/>
        </p:nvSpPr>
        <p:spPr>
          <a:xfrm>
            <a:off x="2921508" y="3017520"/>
            <a:ext cx="1783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Versionado en Git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9" name="Google Shape;22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60036" y="256032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7"/>
          <p:cNvSpPr/>
          <p:nvPr/>
        </p:nvSpPr>
        <p:spPr>
          <a:xfrm>
            <a:off x="5111496" y="1691640"/>
            <a:ext cx="1965960" cy="1920240"/>
          </a:xfrm>
          <a:prstGeom prst="roundRect">
            <a:avLst>
              <a:gd fmla="val 6667" name="adj"/>
            </a:avLst>
          </a:prstGeom>
          <a:solidFill>
            <a:schemeClr val="lt1"/>
          </a:solidFill>
          <a:ln>
            <a:noFill/>
          </a:ln>
          <a:effectLst>
            <a:outerShdw blurRad="1270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7"/>
          <p:cNvSpPr/>
          <p:nvPr/>
        </p:nvSpPr>
        <p:spPr>
          <a:xfrm>
            <a:off x="5811012" y="1965960"/>
            <a:ext cx="566928" cy="566928"/>
          </a:xfrm>
          <a:prstGeom prst="roundRect">
            <a:avLst>
              <a:gd fmla="val 19355" name="adj"/>
            </a:avLst>
          </a:prstGeom>
          <a:solidFill>
            <a:srgbClr val="E2EF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2" name="Google Shape;232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64083" y="2119031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7"/>
          <p:cNvSpPr txBox="1"/>
          <p:nvPr/>
        </p:nvSpPr>
        <p:spPr>
          <a:xfrm>
            <a:off x="5202936" y="2651760"/>
            <a:ext cx="1783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Pull request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 txBox="1"/>
          <p:nvPr/>
        </p:nvSpPr>
        <p:spPr>
          <a:xfrm>
            <a:off x="5202936" y="3017520"/>
            <a:ext cx="1783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Revisado antes de integrar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5" name="Google Shape;23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41464" y="256032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7"/>
          <p:cNvSpPr/>
          <p:nvPr/>
        </p:nvSpPr>
        <p:spPr>
          <a:xfrm>
            <a:off x="7392924" y="1691640"/>
            <a:ext cx="1965960" cy="1920240"/>
          </a:xfrm>
          <a:prstGeom prst="roundRect">
            <a:avLst>
              <a:gd fmla="val 6667" name="adj"/>
            </a:avLst>
          </a:prstGeom>
          <a:solidFill>
            <a:schemeClr val="lt1"/>
          </a:solidFill>
          <a:ln>
            <a:noFill/>
          </a:ln>
          <a:effectLst>
            <a:outerShdw blurRad="1270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7"/>
          <p:cNvSpPr/>
          <p:nvPr/>
        </p:nvSpPr>
        <p:spPr>
          <a:xfrm>
            <a:off x="8092440" y="1965960"/>
            <a:ext cx="566928" cy="566928"/>
          </a:xfrm>
          <a:prstGeom prst="roundRect">
            <a:avLst>
              <a:gd fmla="val 19355" name="adj"/>
            </a:avLst>
          </a:prstGeom>
          <a:solidFill>
            <a:srgbClr val="E2EF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8" name="Google Shape;238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45511" y="2119031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7"/>
          <p:cNvSpPr txBox="1"/>
          <p:nvPr/>
        </p:nvSpPr>
        <p:spPr>
          <a:xfrm>
            <a:off x="7484364" y="2651760"/>
            <a:ext cx="1783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Integración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7"/>
          <p:cNvSpPr txBox="1"/>
          <p:nvPr/>
        </p:nvSpPr>
        <p:spPr>
          <a:xfrm>
            <a:off x="7484364" y="3017520"/>
            <a:ext cx="1783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GitHub Actions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1" name="Google Shape;24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22892" y="256032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7"/>
          <p:cNvSpPr/>
          <p:nvPr/>
        </p:nvSpPr>
        <p:spPr>
          <a:xfrm>
            <a:off x="9674352" y="1691640"/>
            <a:ext cx="1965960" cy="1920240"/>
          </a:xfrm>
          <a:prstGeom prst="roundRect">
            <a:avLst>
              <a:gd fmla="val 6667" name="adj"/>
            </a:avLst>
          </a:prstGeom>
          <a:solidFill>
            <a:schemeClr val="accent1"/>
          </a:solidFill>
          <a:ln>
            <a:noFill/>
          </a:ln>
          <a:effectLst>
            <a:outerShdw blurRad="1270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7"/>
          <p:cNvSpPr/>
          <p:nvPr/>
        </p:nvSpPr>
        <p:spPr>
          <a:xfrm>
            <a:off x="10373868" y="1965960"/>
            <a:ext cx="566928" cy="566928"/>
          </a:xfrm>
          <a:prstGeom prst="roundRect">
            <a:avLst>
              <a:gd fmla="val 1935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4" name="Google Shape;244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526939" y="2119031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7"/>
          <p:cNvSpPr txBox="1"/>
          <p:nvPr/>
        </p:nvSpPr>
        <p:spPr>
          <a:xfrm>
            <a:off x="9765792" y="2651760"/>
            <a:ext cx="1783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Build de demo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7"/>
          <p:cNvSpPr txBox="1"/>
          <p:nvPr/>
        </p:nvSpPr>
        <p:spPr>
          <a:xfrm>
            <a:off x="9765792" y="3017520"/>
            <a:ext cx="1783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Flutter Web en Vercel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3133444" y="3977650"/>
            <a:ext cx="5922000" cy="2240400"/>
          </a:xfrm>
          <a:prstGeom prst="roundRect">
            <a:avLst>
              <a:gd fmla="val 5714" name="adj"/>
            </a:avLst>
          </a:prstGeom>
          <a:solidFill>
            <a:schemeClr val="lt1"/>
          </a:solidFill>
          <a:ln>
            <a:noFill/>
          </a:ln>
          <a:effectLst>
            <a:outerShdw blurRad="1270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7"/>
          <p:cNvSpPr/>
          <p:nvPr/>
        </p:nvSpPr>
        <p:spPr>
          <a:xfrm>
            <a:off x="3921156" y="4206245"/>
            <a:ext cx="548700" cy="548700"/>
          </a:xfrm>
          <a:prstGeom prst="roundRect">
            <a:avLst>
              <a:gd fmla="val 20000" name="adj"/>
            </a:avLst>
          </a:prstGeom>
          <a:solidFill>
            <a:srgbClr val="E2EF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9" name="Google Shape;249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069289" y="4354378"/>
            <a:ext cx="252374" cy="252374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7"/>
          <p:cNvSpPr txBox="1"/>
          <p:nvPr/>
        </p:nvSpPr>
        <p:spPr>
          <a:xfrm>
            <a:off x="4652676" y="4206245"/>
            <a:ext cx="3657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mbria"/>
              <a:buNone/>
            </a:pPr>
            <a:r>
              <a:rPr b="1" lang="en-US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Entregas continuas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7"/>
          <p:cNvSpPr txBox="1"/>
          <p:nvPr/>
        </p:nvSpPr>
        <p:spPr>
          <a:xfrm>
            <a:off x="3921156" y="4892045"/>
            <a:ext cx="48600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Una build de demostración desplegada permite que la empresa monitoree el avance entre reuniones, según lo acordado en la primera reunión con Alloxentric.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7"/>
          <p:cNvSpPr txBox="1"/>
          <p:nvPr>
            <p:ph idx="4294967295" type="sldNum"/>
          </p:nvPr>
        </p:nvSpPr>
        <p:spPr>
          <a:xfrm>
            <a:off x="8689752" y="6446525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00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"/>
          <p:cNvSpPr txBox="1"/>
          <p:nvPr>
            <p:ph type="title"/>
          </p:nvPr>
        </p:nvSpPr>
        <p:spPr>
          <a:xfrm>
            <a:off x="548640" y="64008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chemeClr val="accent1"/>
                </a:solidFill>
              </a:rPr>
              <a:t>Cronograma: release plan</a:t>
            </a:r>
            <a:endParaRPr sz="3200"/>
          </a:p>
        </p:txBody>
      </p:sp>
      <p:sp>
        <p:nvSpPr>
          <p:cNvPr id="259" name="Google Shape;259;p8"/>
          <p:cNvSpPr/>
          <p:nvPr/>
        </p:nvSpPr>
        <p:spPr>
          <a:xfrm>
            <a:off x="548640" y="1691640"/>
            <a:ext cx="1998878" cy="3291840"/>
          </a:xfrm>
          <a:prstGeom prst="roundRect">
            <a:avLst>
              <a:gd fmla="val 6404" name="adj"/>
            </a:avLst>
          </a:prstGeom>
          <a:solidFill>
            <a:schemeClr val="lt1"/>
          </a:solidFill>
          <a:ln>
            <a:noFill/>
          </a:ln>
          <a:effectLst>
            <a:outerShdw blurRad="1270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8"/>
          <p:cNvSpPr/>
          <p:nvPr/>
        </p:nvSpPr>
        <p:spPr>
          <a:xfrm>
            <a:off x="822960" y="1965960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8"/>
          <p:cNvSpPr txBox="1"/>
          <p:nvPr/>
        </p:nvSpPr>
        <p:spPr>
          <a:xfrm>
            <a:off x="822960" y="196596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8"/>
          <p:cNvSpPr txBox="1"/>
          <p:nvPr/>
        </p:nvSpPr>
        <p:spPr>
          <a:xfrm>
            <a:off x="822960" y="2834640"/>
            <a:ext cx="1541678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</a:pPr>
            <a:r>
              <a:rPr b="1" lang="en-US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Sprint 1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8"/>
          <p:cNvSpPr txBox="1"/>
          <p:nvPr/>
        </p:nvSpPr>
        <p:spPr>
          <a:xfrm>
            <a:off x="822960" y="3246120"/>
            <a:ext cx="154167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Semanas 1–2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8"/>
          <p:cNvSpPr txBox="1"/>
          <p:nvPr/>
        </p:nvSpPr>
        <p:spPr>
          <a:xfrm>
            <a:off x="822960" y="3703320"/>
            <a:ext cx="154167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Setup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Autenticación y navegación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5" name="Google Shape;2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06954" y="2217420"/>
            <a:ext cx="155448" cy="155448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8"/>
          <p:cNvSpPr/>
          <p:nvPr/>
        </p:nvSpPr>
        <p:spPr>
          <a:xfrm>
            <a:off x="2821838" y="1691640"/>
            <a:ext cx="1998878" cy="3291840"/>
          </a:xfrm>
          <a:prstGeom prst="roundRect">
            <a:avLst>
              <a:gd fmla="val 6404" name="adj"/>
            </a:avLst>
          </a:prstGeom>
          <a:solidFill>
            <a:schemeClr val="lt1"/>
          </a:solidFill>
          <a:ln>
            <a:noFill/>
          </a:ln>
          <a:effectLst>
            <a:outerShdw blurRad="1270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8"/>
          <p:cNvSpPr/>
          <p:nvPr/>
        </p:nvSpPr>
        <p:spPr>
          <a:xfrm>
            <a:off x="3096158" y="1965960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8"/>
          <p:cNvSpPr txBox="1"/>
          <p:nvPr/>
        </p:nvSpPr>
        <p:spPr>
          <a:xfrm>
            <a:off x="3096158" y="196596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8"/>
          <p:cNvSpPr txBox="1"/>
          <p:nvPr/>
        </p:nvSpPr>
        <p:spPr>
          <a:xfrm>
            <a:off x="3096158" y="2834640"/>
            <a:ext cx="1541678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</a:pPr>
            <a:r>
              <a:rPr b="1" lang="en-US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Sprint 2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8"/>
          <p:cNvSpPr txBox="1"/>
          <p:nvPr/>
        </p:nvSpPr>
        <p:spPr>
          <a:xfrm>
            <a:off x="3096158" y="3246120"/>
            <a:ext cx="154167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Semanas 3–4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 txBox="1"/>
          <p:nvPr/>
        </p:nvSpPr>
        <p:spPr>
          <a:xfrm>
            <a:off x="3096158" y="3703320"/>
            <a:ext cx="154167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Vitals / wearable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Medicamentos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2" name="Google Shape;27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80153" y="2217420"/>
            <a:ext cx="155448" cy="155448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8"/>
          <p:cNvSpPr/>
          <p:nvPr/>
        </p:nvSpPr>
        <p:spPr>
          <a:xfrm>
            <a:off x="5095037" y="1691640"/>
            <a:ext cx="1998878" cy="3291840"/>
          </a:xfrm>
          <a:prstGeom prst="roundRect">
            <a:avLst>
              <a:gd fmla="val 6404" name="adj"/>
            </a:avLst>
          </a:prstGeom>
          <a:solidFill>
            <a:schemeClr val="lt1"/>
          </a:solidFill>
          <a:ln>
            <a:noFill/>
          </a:ln>
          <a:effectLst>
            <a:outerShdw blurRad="1270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8"/>
          <p:cNvSpPr/>
          <p:nvPr/>
        </p:nvSpPr>
        <p:spPr>
          <a:xfrm>
            <a:off x="5369357" y="1965960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8"/>
          <p:cNvSpPr txBox="1"/>
          <p:nvPr/>
        </p:nvSpPr>
        <p:spPr>
          <a:xfrm>
            <a:off x="5369357" y="196596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 txBox="1"/>
          <p:nvPr/>
        </p:nvSpPr>
        <p:spPr>
          <a:xfrm>
            <a:off x="5369357" y="2834640"/>
            <a:ext cx="1541678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</a:pPr>
            <a:r>
              <a:rPr b="1" lang="en-US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Sprint 3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8"/>
          <p:cNvSpPr txBox="1"/>
          <p:nvPr/>
        </p:nvSpPr>
        <p:spPr>
          <a:xfrm>
            <a:off x="5369357" y="3246120"/>
            <a:ext cx="154167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Semanas 5–6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 txBox="1"/>
          <p:nvPr/>
        </p:nvSpPr>
        <p:spPr>
          <a:xfrm>
            <a:off x="5369357" y="3703320"/>
            <a:ext cx="154167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Alertas / SOS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Bitácora / OCR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9" name="Google Shape;27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53351" y="2217420"/>
            <a:ext cx="155448" cy="155448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8"/>
          <p:cNvSpPr/>
          <p:nvPr/>
        </p:nvSpPr>
        <p:spPr>
          <a:xfrm>
            <a:off x="7368235" y="1691640"/>
            <a:ext cx="1998878" cy="3291840"/>
          </a:xfrm>
          <a:prstGeom prst="roundRect">
            <a:avLst>
              <a:gd fmla="val 6404" name="adj"/>
            </a:avLst>
          </a:prstGeom>
          <a:solidFill>
            <a:schemeClr val="lt1"/>
          </a:solidFill>
          <a:ln>
            <a:noFill/>
          </a:ln>
          <a:effectLst>
            <a:outerShdw blurRad="1270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8"/>
          <p:cNvSpPr/>
          <p:nvPr/>
        </p:nvSpPr>
        <p:spPr>
          <a:xfrm>
            <a:off x="7642555" y="1965960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8"/>
          <p:cNvSpPr txBox="1"/>
          <p:nvPr/>
        </p:nvSpPr>
        <p:spPr>
          <a:xfrm>
            <a:off x="7642555" y="196596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8"/>
          <p:cNvSpPr txBox="1"/>
          <p:nvPr/>
        </p:nvSpPr>
        <p:spPr>
          <a:xfrm>
            <a:off x="7642555" y="2834640"/>
            <a:ext cx="1541678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</a:pPr>
            <a:r>
              <a:rPr b="1" lang="en-US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Sprint 4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8"/>
          <p:cNvSpPr txBox="1"/>
          <p:nvPr/>
        </p:nvSpPr>
        <p:spPr>
          <a:xfrm>
            <a:off x="7642555" y="3246120"/>
            <a:ext cx="154167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Semanas 7–8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8"/>
          <p:cNvSpPr txBox="1"/>
          <p:nvPr/>
        </p:nvSpPr>
        <p:spPr>
          <a:xfrm>
            <a:off x="7642555" y="3703320"/>
            <a:ext cx="154167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Chat / asistente IA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Vista adulto mayor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6" name="Google Shape;28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26550" y="2217420"/>
            <a:ext cx="155448" cy="155448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8"/>
          <p:cNvSpPr/>
          <p:nvPr/>
        </p:nvSpPr>
        <p:spPr>
          <a:xfrm>
            <a:off x="9641434" y="1691640"/>
            <a:ext cx="1998878" cy="3291840"/>
          </a:xfrm>
          <a:prstGeom prst="roundRect">
            <a:avLst>
              <a:gd fmla="val 6404" name="adj"/>
            </a:avLst>
          </a:prstGeom>
          <a:solidFill>
            <a:schemeClr val="accent1"/>
          </a:solidFill>
          <a:ln>
            <a:noFill/>
          </a:ln>
          <a:effectLst>
            <a:outerShdw blurRad="1270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8"/>
          <p:cNvSpPr/>
          <p:nvPr/>
        </p:nvSpPr>
        <p:spPr>
          <a:xfrm>
            <a:off x="9915754" y="1965960"/>
            <a:ext cx="685800" cy="685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8"/>
          <p:cNvSpPr txBox="1"/>
          <p:nvPr/>
        </p:nvSpPr>
        <p:spPr>
          <a:xfrm>
            <a:off x="9915754" y="196596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/>
          <p:cNvSpPr txBox="1"/>
          <p:nvPr/>
        </p:nvSpPr>
        <p:spPr>
          <a:xfrm>
            <a:off x="9915754" y="2834640"/>
            <a:ext cx="1541678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mbria"/>
              <a:buNone/>
            </a:pPr>
            <a:r>
              <a:rPr b="1" lang="en-US" sz="20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Sprint 5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"/>
          <p:cNvSpPr txBox="1"/>
          <p:nvPr/>
        </p:nvSpPr>
        <p:spPr>
          <a:xfrm>
            <a:off x="9915754" y="3246120"/>
            <a:ext cx="154167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Semanas 9–10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8"/>
          <p:cNvSpPr txBox="1"/>
          <p:nvPr/>
        </p:nvSpPr>
        <p:spPr>
          <a:xfrm>
            <a:off x="9915754" y="3703320"/>
            <a:ext cx="154167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Marketplace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QA final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3" name="Google Shape;293;p8"/>
          <p:cNvCxnSpPr/>
          <p:nvPr/>
        </p:nvCxnSpPr>
        <p:spPr>
          <a:xfrm>
            <a:off x="8367674" y="4983480"/>
            <a:ext cx="0" cy="50292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94" name="Google Shape;294;p8"/>
          <p:cNvSpPr/>
          <p:nvPr/>
        </p:nvSpPr>
        <p:spPr>
          <a:xfrm>
            <a:off x="7322515" y="5486400"/>
            <a:ext cx="2090318" cy="4572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8"/>
          <p:cNvSpPr txBox="1"/>
          <p:nvPr/>
        </p:nvSpPr>
        <p:spPr>
          <a:xfrm>
            <a:off x="7322515" y="5486400"/>
            <a:ext cx="209031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Piloto con usuarios · semana 8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6" name="Google Shape;296;p8"/>
          <p:cNvCxnSpPr/>
          <p:nvPr/>
        </p:nvCxnSpPr>
        <p:spPr>
          <a:xfrm>
            <a:off x="10640873" y="4983480"/>
            <a:ext cx="0" cy="50292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97" name="Google Shape;297;p8"/>
          <p:cNvSpPr/>
          <p:nvPr/>
        </p:nvSpPr>
        <p:spPr>
          <a:xfrm>
            <a:off x="9595714" y="5486400"/>
            <a:ext cx="2090318" cy="4572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8"/>
          <p:cNvSpPr txBox="1"/>
          <p:nvPr/>
        </p:nvSpPr>
        <p:spPr>
          <a:xfrm>
            <a:off x="9595714" y="5486400"/>
            <a:ext cx="209031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Entrega final · semana 10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8"/>
          <p:cNvSpPr txBox="1"/>
          <p:nvPr>
            <p:ph idx="4294967295" type="sldNum"/>
          </p:nvPr>
        </p:nvSpPr>
        <p:spPr>
          <a:xfrm>
            <a:off x="11274552" y="64008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00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9"/>
          <p:cNvSpPr txBox="1"/>
          <p:nvPr>
            <p:ph type="title"/>
          </p:nvPr>
        </p:nvSpPr>
        <p:spPr>
          <a:xfrm>
            <a:off x="548640" y="64008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chemeClr val="accent1"/>
                </a:solidFill>
              </a:rPr>
              <a:t>Arquitectura del software</a:t>
            </a:r>
            <a:endParaRPr sz="3200"/>
          </a:p>
        </p:txBody>
      </p:sp>
      <p:sp>
        <p:nvSpPr>
          <p:cNvPr id="306" name="Google Shape;306;p9"/>
          <p:cNvSpPr/>
          <p:nvPr/>
        </p:nvSpPr>
        <p:spPr>
          <a:xfrm>
            <a:off x="548640" y="1463040"/>
            <a:ext cx="11091672" cy="914400"/>
          </a:xfrm>
          <a:prstGeom prst="roundRect">
            <a:avLst>
              <a:gd fmla="val 14000" name="adj"/>
            </a:avLst>
          </a:prstGeom>
          <a:solidFill>
            <a:schemeClr val="lt1"/>
          </a:solidFill>
          <a:ln>
            <a:noFill/>
          </a:ln>
          <a:effectLst>
            <a:outerShdw blurRad="1270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9"/>
          <p:cNvSpPr/>
          <p:nvPr/>
        </p:nvSpPr>
        <p:spPr>
          <a:xfrm>
            <a:off x="777240" y="1627632"/>
            <a:ext cx="411480" cy="411480"/>
          </a:xfrm>
          <a:prstGeom prst="roundRect">
            <a:avLst>
              <a:gd fmla="val 26667" name="adj"/>
            </a:avLst>
          </a:prstGeom>
          <a:solidFill>
            <a:srgbClr val="E2EF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8" name="Google Shape;30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8340" y="1738732"/>
            <a:ext cx="189281" cy="189281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9"/>
          <p:cNvSpPr txBox="1"/>
          <p:nvPr/>
        </p:nvSpPr>
        <p:spPr>
          <a:xfrm>
            <a:off x="1280160" y="1591056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9"/>
          <p:cNvSpPr/>
          <p:nvPr/>
        </p:nvSpPr>
        <p:spPr>
          <a:xfrm>
            <a:off x="3566160" y="1591056"/>
            <a:ext cx="3017520" cy="658368"/>
          </a:xfrm>
          <a:prstGeom prst="roundRect">
            <a:avLst>
              <a:gd fmla="val 13889" name="adj"/>
            </a:avLst>
          </a:prstGeom>
          <a:solidFill>
            <a:schemeClr val="accent6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9"/>
          <p:cNvSpPr txBox="1"/>
          <p:nvPr/>
        </p:nvSpPr>
        <p:spPr>
          <a:xfrm>
            <a:off x="3657600" y="1655064"/>
            <a:ext cx="28346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4A12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7A4A12"/>
                </a:solidFill>
                <a:latin typeface="Calibri"/>
                <a:ea typeface="Calibri"/>
                <a:cs typeface="Calibri"/>
                <a:sym typeface="Calibri"/>
              </a:rPr>
              <a:t>App Flutter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9"/>
          <p:cNvSpPr txBox="1"/>
          <p:nvPr/>
        </p:nvSpPr>
        <p:spPr>
          <a:xfrm>
            <a:off x="3657600" y="1956816"/>
            <a:ext cx="28346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4A12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7A4A12"/>
                </a:solidFill>
                <a:latin typeface="Calibri"/>
                <a:ea typeface="Calibri"/>
                <a:cs typeface="Calibri"/>
                <a:sym typeface="Calibri"/>
              </a:rPr>
              <a:t>Android · iOS · Riverpod · Dio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9"/>
          <p:cNvSpPr/>
          <p:nvPr/>
        </p:nvSpPr>
        <p:spPr>
          <a:xfrm>
            <a:off x="7589520" y="1591056"/>
            <a:ext cx="3017520" cy="658368"/>
          </a:xfrm>
          <a:prstGeom prst="roundRect">
            <a:avLst>
              <a:gd fmla="val 13889" name="adj"/>
            </a:avLst>
          </a:prstGeom>
          <a:solidFill>
            <a:schemeClr val="accent6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9"/>
          <p:cNvSpPr txBox="1"/>
          <p:nvPr/>
        </p:nvSpPr>
        <p:spPr>
          <a:xfrm>
            <a:off x="7680960" y="1655064"/>
            <a:ext cx="28346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4A12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7A4A12"/>
                </a:solidFill>
                <a:latin typeface="Calibri"/>
                <a:ea typeface="Calibri"/>
                <a:cs typeface="Calibri"/>
                <a:sym typeface="Calibri"/>
              </a:rPr>
              <a:t>Versión web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9"/>
          <p:cNvSpPr txBox="1"/>
          <p:nvPr/>
        </p:nvSpPr>
        <p:spPr>
          <a:xfrm>
            <a:off x="7680960" y="1956816"/>
            <a:ext cx="28346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4A12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7A4A12"/>
                </a:solidFill>
                <a:latin typeface="Calibri"/>
                <a:ea typeface="Calibri"/>
                <a:cs typeface="Calibri"/>
                <a:sym typeface="Calibri"/>
              </a:rPr>
              <a:t>Flutter web · Vercel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9"/>
          <p:cNvSpPr/>
          <p:nvPr/>
        </p:nvSpPr>
        <p:spPr>
          <a:xfrm>
            <a:off x="548640" y="2926080"/>
            <a:ext cx="11091672" cy="1783080"/>
          </a:xfrm>
          <a:prstGeom prst="roundRect">
            <a:avLst>
              <a:gd fmla="val 7179" name="adj"/>
            </a:avLst>
          </a:prstGeom>
          <a:solidFill>
            <a:schemeClr val="lt1"/>
          </a:solidFill>
          <a:ln>
            <a:noFill/>
          </a:ln>
          <a:effectLst>
            <a:outerShdw blurRad="1270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9"/>
          <p:cNvSpPr/>
          <p:nvPr/>
        </p:nvSpPr>
        <p:spPr>
          <a:xfrm>
            <a:off x="777240" y="3090672"/>
            <a:ext cx="411480" cy="411480"/>
          </a:xfrm>
          <a:prstGeom prst="roundRect">
            <a:avLst>
              <a:gd fmla="val 26667" name="adj"/>
            </a:avLst>
          </a:prstGeom>
          <a:solidFill>
            <a:srgbClr val="E2EF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8" name="Google Shape;31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8340" y="3201772"/>
            <a:ext cx="189281" cy="189281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1280160" y="3054096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Azure · Brazil South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0" name="Google Shape;320;p9"/>
          <p:cNvCxnSpPr/>
          <p:nvPr/>
        </p:nvCxnSpPr>
        <p:spPr>
          <a:xfrm>
            <a:off x="5074920" y="2249424"/>
            <a:ext cx="0" cy="448056"/>
          </a:xfrm>
          <a:prstGeom prst="straightConnector1">
            <a:avLst/>
          </a:prstGeom>
          <a:noFill/>
          <a:ln cap="flat" cmpd="sng" w="158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1" name="Google Shape;321;p9"/>
          <p:cNvCxnSpPr/>
          <p:nvPr/>
        </p:nvCxnSpPr>
        <p:spPr>
          <a:xfrm>
            <a:off x="5074920" y="2697480"/>
            <a:ext cx="1554480" cy="0"/>
          </a:xfrm>
          <a:prstGeom prst="straightConnector1">
            <a:avLst/>
          </a:prstGeom>
          <a:noFill/>
          <a:ln cap="flat" cmpd="sng" w="158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2" name="Google Shape;322;p9"/>
          <p:cNvCxnSpPr/>
          <p:nvPr/>
        </p:nvCxnSpPr>
        <p:spPr>
          <a:xfrm>
            <a:off x="6629400" y="2697480"/>
            <a:ext cx="0" cy="320040"/>
          </a:xfrm>
          <a:prstGeom prst="straightConnector1">
            <a:avLst/>
          </a:prstGeom>
          <a:noFill/>
          <a:ln cap="flat" cmpd="sng" w="15875">
            <a:solidFill>
              <a:schemeClr val="accent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3" name="Google Shape;323;p9"/>
          <p:cNvCxnSpPr/>
          <p:nvPr/>
        </p:nvCxnSpPr>
        <p:spPr>
          <a:xfrm>
            <a:off x="9098280" y="2249424"/>
            <a:ext cx="0" cy="448056"/>
          </a:xfrm>
          <a:prstGeom prst="straightConnector1">
            <a:avLst/>
          </a:prstGeom>
          <a:noFill/>
          <a:ln cap="flat" cmpd="sng" w="158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4" name="Google Shape;324;p9"/>
          <p:cNvCxnSpPr/>
          <p:nvPr/>
        </p:nvCxnSpPr>
        <p:spPr>
          <a:xfrm>
            <a:off x="7543800" y="2697480"/>
            <a:ext cx="1554480" cy="0"/>
          </a:xfrm>
          <a:prstGeom prst="straightConnector1">
            <a:avLst/>
          </a:prstGeom>
          <a:noFill/>
          <a:ln cap="flat" cmpd="sng" w="158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5" name="Google Shape;325;p9"/>
          <p:cNvCxnSpPr/>
          <p:nvPr/>
        </p:nvCxnSpPr>
        <p:spPr>
          <a:xfrm>
            <a:off x="7543800" y="2697480"/>
            <a:ext cx="0" cy="320040"/>
          </a:xfrm>
          <a:prstGeom prst="straightConnector1">
            <a:avLst/>
          </a:prstGeom>
          <a:noFill/>
          <a:ln cap="flat" cmpd="sng" w="15875">
            <a:solidFill>
              <a:schemeClr val="accent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6" name="Google Shape;326;p9"/>
          <p:cNvSpPr txBox="1"/>
          <p:nvPr/>
        </p:nvSpPr>
        <p:spPr>
          <a:xfrm>
            <a:off x="5257800" y="239572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REST /api/v1 + JWT · WebSocket chat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9"/>
          <p:cNvSpPr/>
          <p:nvPr/>
        </p:nvSpPr>
        <p:spPr>
          <a:xfrm>
            <a:off x="5532120" y="3035808"/>
            <a:ext cx="3108960" cy="658368"/>
          </a:xfrm>
          <a:prstGeom prst="roundRect">
            <a:avLst>
              <a:gd fmla="val 13889" name="adj"/>
            </a:avLst>
          </a:prstGeom>
          <a:solidFill>
            <a:schemeClr val="accent5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9"/>
          <p:cNvSpPr txBox="1"/>
          <p:nvPr/>
        </p:nvSpPr>
        <p:spPr>
          <a:xfrm>
            <a:off x="5623560" y="3099816"/>
            <a:ext cx="29260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Core API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9"/>
          <p:cNvSpPr txBox="1"/>
          <p:nvPr/>
        </p:nvSpPr>
        <p:spPr>
          <a:xfrm>
            <a:off x="5623560" y="3401568"/>
            <a:ext cx="29260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50"/>
              <a:buFont typeface="Calibri"/>
              <a:buNone/>
            </a:pPr>
            <a:r>
              <a:rPr lang="en-US" sz="115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FastAPI · Python 3.12 · App Service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9"/>
          <p:cNvSpPr/>
          <p:nvPr/>
        </p:nvSpPr>
        <p:spPr>
          <a:xfrm>
            <a:off x="3108960" y="3931920"/>
            <a:ext cx="3291840" cy="658368"/>
          </a:xfrm>
          <a:prstGeom prst="roundRect">
            <a:avLst>
              <a:gd fmla="val 13889" name="adj"/>
            </a:avLst>
          </a:prstGeom>
          <a:solidFill>
            <a:schemeClr val="accent5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9"/>
          <p:cNvSpPr txBox="1"/>
          <p:nvPr/>
        </p:nvSpPr>
        <p:spPr>
          <a:xfrm>
            <a:off x="3200400" y="3995928"/>
            <a:ext cx="31089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PostgreSQL 16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9"/>
          <p:cNvSpPr txBox="1"/>
          <p:nvPr/>
        </p:nvSpPr>
        <p:spPr>
          <a:xfrm>
            <a:off x="3200400" y="4297680"/>
            <a:ext cx="31089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50"/>
              <a:buFont typeface="Calibri"/>
              <a:buNone/>
            </a:pPr>
            <a:r>
              <a:rPr lang="en-US" sz="115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SQLAlchemy 2 · asyncpg · Alembic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9"/>
          <p:cNvSpPr/>
          <p:nvPr/>
        </p:nvSpPr>
        <p:spPr>
          <a:xfrm>
            <a:off x="7772400" y="3931920"/>
            <a:ext cx="3291840" cy="658368"/>
          </a:xfrm>
          <a:prstGeom prst="roundRect">
            <a:avLst>
              <a:gd fmla="val 13889" name="adj"/>
            </a:avLst>
          </a:prstGeom>
          <a:solidFill>
            <a:schemeClr val="accent5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9"/>
          <p:cNvSpPr txBox="1"/>
          <p:nvPr/>
        </p:nvSpPr>
        <p:spPr>
          <a:xfrm>
            <a:off x="7863840" y="3995928"/>
            <a:ext cx="31089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Blob Storage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9"/>
          <p:cNvSpPr txBox="1"/>
          <p:nvPr/>
        </p:nvSpPr>
        <p:spPr>
          <a:xfrm>
            <a:off x="7863840" y="4297680"/>
            <a:ext cx="31089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50"/>
              <a:buFont typeface="Calibri"/>
              <a:buNone/>
            </a:pPr>
            <a:r>
              <a:rPr lang="en-US" sz="115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Fotos, audios y documentos · URL SAS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6" name="Google Shape;336;p9"/>
          <p:cNvCxnSpPr/>
          <p:nvPr/>
        </p:nvCxnSpPr>
        <p:spPr>
          <a:xfrm>
            <a:off x="6492240" y="3694176"/>
            <a:ext cx="0" cy="118872"/>
          </a:xfrm>
          <a:prstGeom prst="straightConnector1">
            <a:avLst/>
          </a:prstGeom>
          <a:noFill/>
          <a:ln cap="flat" cmpd="sng" w="158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7" name="Google Shape;337;p9"/>
          <p:cNvCxnSpPr/>
          <p:nvPr/>
        </p:nvCxnSpPr>
        <p:spPr>
          <a:xfrm>
            <a:off x="4754880" y="3813048"/>
            <a:ext cx="1737360" cy="0"/>
          </a:xfrm>
          <a:prstGeom prst="straightConnector1">
            <a:avLst/>
          </a:prstGeom>
          <a:noFill/>
          <a:ln cap="flat" cmpd="sng" w="158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8" name="Google Shape;338;p9"/>
          <p:cNvCxnSpPr/>
          <p:nvPr/>
        </p:nvCxnSpPr>
        <p:spPr>
          <a:xfrm>
            <a:off x="4754880" y="3813048"/>
            <a:ext cx="0" cy="118872"/>
          </a:xfrm>
          <a:prstGeom prst="straightConnector1">
            <a:avLst/>
          </a:prstGeom>
          <a:noFill/>
          <a:ln cap="flat" cmpd="sng" w="15875">
            <a:solidFill>
              <a:schemeClr val="accent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9" name="Google Shape;339;p9"/>
          <p:cNvCxnSpPr/>
          <p:nvPr/>
        </p:nvCxnSpPr>
        <p:spPr>
          <a:xfrm>
            <a:off x="7680960" y="3694176"/>
            <a:ext cx="0" cy="118872"/>
          </a:xfrm>
          <a:prstGeom prst="straightConnector1">
            <a:avLst/>
          </a:prstGeom>
          <a:noFill/>
          <a:ln cap="flat" cmpd="sng" w="158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0" name="Google Shape;340;p9"/>
          <p:cNvCxnSpPr/>
          <p:nvPr/>
        </p:nvCxnSpPr>
        <p:spPr>
          <a:xfrm>
            <a:off x="7680960" y="3813048"/>
            <a:ext cx="1737360" cy="0"/>
          </a:xfrm>
          <a:prstGeom prst="straightConnector1">
            <a:avLst/>
          </a:prstGeom>
          <a:noFill/>
          <a:ln cap="flat" cmpd="sng" w="158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1" name="Google Shape;341;p9"/>
          <p:cNvCxnSpPr/>
          <p:nvPr/>
        </p:nvCxnSpPr>
        <p:spPr>
          <a:xfrm>
            <a:off x="9418320" y="3813048"/>
            <a:ext cx="0" cy="118872"/>
          </a:xfrm>
          <a:prstGeom prst="straightConnector1">
            <a:avLst/>
          </a:prstGeom>
          <a:noFill/>
          <a:ln cap="flat" cmpd="sng" w="15875">
            <a:solidFill>
              <a:schemeClr val="accent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42" name="Google Shape;342;p9"/>
          <p:cNvCxnSpPr/>
          <p:nvPr/>
        </p:nvCxnSpPr>
        <p:spPr>
          <a:xfrm>
            <a:off x="7086600" y="3694176"/>
            <a:ext cx="0" cy="1197864"/>
          </a:xfrm>
          <a:prstGeom prst="straightConnector1">
            <a:avLst/>
          </a:prstGeom>
          <a:noFill/>
          <a:ln cap="flat" cmpd="sng" w="15875">
            <a:solidFill>
              <a:schemeClr val="accent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3" name="Google Shape;343;p9"/>
          <p:cNvSpPr/>
          <p:nvPr/>
        </p:nvSpPr>
        <p:spPr>
          <a:xfrm>
            <a:off x="548640" y="4892040"/>
            <a:ext cx="11091672" cy="868680"/>
          </a:xfrm>
          <a:prstGeom prst="roundRect">
            <a:avLst>
              <a:gd fmla="val 14737" name="adj"/>
            </a:avLst>
          </a:prstGeom>
          <a:solidFill>
            <a:schemeClr val="lt1"/>
          </a:solidFill>
          <a:ln>
            <a:noFill/>
          </a:ln>
          <a:effectLst>
            <a:outerShdw blurRad="1270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9"/>
          <p:cNvSpPr/>
          <p:nvPr/>
        </p:nvSpPr>
        <p:spPr>
          <a:xfrm>
            <a:off x="777240" y="5056632"/>
            <a:ext cx="411480" cy="411480"/>
          </a:xfrm>
          <a:prstGeom prst="roundRect">
            <a:avLst>
              <a:gd fmla="val 26667" name="adj"/>
            </a:avLst>
          </a:prstGeom>
          <a:solidFill>
            <a:srgbClr val="E2EF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5" name="Google Shape;345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8340" y="5167732"/>
            <a:ext cx="189281" cy="189281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9"/>
          <p:cNvSpPr txBox="1"/>
          <p:nvPr/>
        </p:nvSpPr>
        <p:spPr>
          <a:xfrm>
            <a:off x="1280160" y="5020056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Servicios externos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9"/>
          <p:cNvSpPr/>
          <p:nvPr/>
        </p:nvSpPr>
        <p:spPr>
          <a:xfrm>
            <a:off x="2743200" y="5001768"/>
            <a:ext cx="2011680" cy="658368"/>
          </a:xfrm>
          <a:prstGeom prst="roundRect">
            <a:avLst>
              <a:gd fmla="val 13889" name="adj"/>
            </a:avLst>
          </a:prstGeom>
          <a:solidFill>
            <a:srgbClr val="FBE3E1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9"/>
          <p:cNvSpPr txBox="1"/>
          <p:nvPr/>
        </p:nvSpPr>
        <p:spPr>
          <a:xfrm>
            <a:off x="2834640" y="5065776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E2F2A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8E2F2A"/>
                </a:solidFill>
                <a:latin typeface="Calibri"/>
                <a:ea typeface="Calibri"/>
                <a:cs typeface="Calibri"/>
                <a:sym typeface="Calibri"/>
              </a:rPr>
              <a:t>Firebase FCM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9"/>
          <p:cNvSpPr txBox="1"/>
          <p:nvPr/>
        </p:nvSpPr>
        <p:spPr>
          <a:xfrm>
            <a:off x="2834640" y="5367528"/>
            <a:ext cx="18288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E2F2A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8E2F2A"/>
                </a:solidFill>
                <a:latin typeface="Calibri"/>
                <a:ea typeface="Calibri"/>
                <a:cs typeface="Calibri"/>
                <a:sym typeface="Calibri"/>
              </a:rPr>
              <a:t>Notificaciones push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9"/>
          <p:cNvSpPr/>
          <p:nvPr/>
        </p:nvSpPr>
        <p:spPr>
          <a:xfrm>
            <a:off x="4965192" y="5001768"/>
            <a:ext cx="2011680" cy="658368"/>
          </a:xfrm>
          <a:prstGeom prst="roundRect">
            <a:avLst>
              <a:gd fmla="val 13889" name="adj"/>
            </a:avLst>
          </a:prstGeom>
          <a:solidFill>
            <a:srgbClr val="FBE3E1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9"/>
          <p:cNvSpPr txBox="1"/>
          <p:nvPr/>
        </p:nvSpPr>
        <p:spPr>
          <a:xfrm>
            <a:off x="5056632" y="5065776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E2F2A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8E2F2A"/>
                </a:solidFill>
                <a:latin typeface="Calibri"/>
                <a:ea typeface="Calibri"/>
                <a:cs typeface="Calibri"/>
                <a:sym typeface="Calibri"/>
              </a:rPr>
              <a:t>Claude API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9"/>
          <p:cNvSpPr txBox="1"/>
          <p:nvPr/>
        </p:nvSpPr>
        <p:spPr>
          <a:xfrm>
            <a:off x="5056632" y="5367528"/>
            <a:ext cx="18288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E2F2A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8E2F2A"/>
                </a:solidFill>
                <a:latin typeface="Calibri"/>
                <a:ea typeface="Calibri"/>
                <a:cs typeface="Calibri"/>
                <a:sym typeface="Calibri"/>
              </a:rPr>
              <a:t>Asistente IA y recetas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9"/>
          <p:cNvSpPr/>
          <p:nvPr/>
        </p:nvSpPr>
        <p:spPr>
          <a:xfrm>
            <a:off x="7187184" y="5001768"/>
            <a:ext cx="2011680" cy="658368"/>
          </a:xfrm>
          <a:prstGeom prst="roundRect">
            <a:avLst>
              <a:gd fmla="val 13889" name="adj"/>
            </a:avLst>
          </a:prstGeom>
          <a:solidFill>
            <a:srgbClr val="FBE3E1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9"/>
          <p:cNvSpPr txBox="1"/>
          <p:nvPr/>
        </p:nvSpPr>
        <p:spPr>
          <a:xfrm>
            <a:off x="7278624" y="5065776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E2F2A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8E2F2A"/>
                </a:solidFill>
                <a:latin typeface="Calibri"/>
                <a:ea typeface="Calibri"/>
                <a:cs typeface="Calibri"/>
                <a:sym typeface="Calibri"/>
              </a:rPr>
              <a:t>Azure AI Speech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9"/>
          <p:cNvSpPr txBox="1"/>
          <p:nvPr/>
        </p:nvSpPr>
        <p:spPr>
          <a:xfrm>
            <a:off x="7278624" y="5367528"/>
            <a:ext cx="18288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E2F2A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8E2F2A"/>
                </a:solidFill>
                <a:latin typeface="Calibri"/>
                <a:ea typeface="Calibri"/>
                <a:cs typeface="Calibri"/>
                <a:sym typeface="Calibri"/>
              </a:rPr>
              <a:t>Dictado y lectura en voz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9"/>
          <p:cNvSpPr/>
          <p:nvPr/>
        </p:nvSpPr>
        <p:spPr>
          <a:xfrm>
            <a:off x="9409176" y="5001768"/>
            <a:ext cx="2011680" cy="658368"/>
          </a:xfrm>
          <a:prstGeom prst="roundRect">
            <a:avLst>
              <a:gd fmla="val 13889" name="adj"/>
            </a:avLst>
          </a:prstGeom>
          <a:solidFill>
            <a:srgbClr val="FBE3E1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9"/>
          <p:cNvSpPr txBox="1"/>
          <p:nvPr/>
        </p:nvSpPr>
        <p:spPr>
          <a:xfrm>
            <a:off x="9500616" y="5065776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E2F2A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8E2F2A"/>
                </a:solidFill>
                <a:latin typeface="Calibri"/>
                <a:ea typeface="Calibri"/>
                <a:cs typeface="Calibri"/>
                <a:sym typeface="Calibri"/>
              </a:rPr>
              <a:t>Spike API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9"/>
          <p:cNvSpPr txBox="1"/>
          <p:nvPr/>
        </p:nvSpPr>
        <p:spPr>
          <a:xfrm>
            <a:off x="9500616" y="5367528"/>
            <a:ext cx="18288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E2F2A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8E2F2A"/>
                </a:solidFill>
                <a:latin typeface="Calibri"/>
                <a:ea typeface="Calibri"/>
                <a:cs typeface="Calibri"/>
                <a:sym typeface="Calibri"/>
              </a:rPr>
              <a:t>Wearables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9"/>
          <p:cNvSpPr/>
          <p:nvPr/>
        </p:nvSpPr>
        <p:spPr>
          <a:xfrm>
            <a:off x="548640" y="5870448"/>
            <a:ext cx="11091672" cy="411480"/>
          </a:xfrm>
          <a:prstGeom prst="roundRect">
            <a:avLst>
              <a:gd fmla="val 22222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0" name="Google Shape;360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960" y="596188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9"/>
          <p:cNvSpPr txBox="1"/>
          <p:nvPr/>
        </p:nvSpPr>
        <p:spPr>
          <a:xfrm>
            <a:off x="1188720" y="5870448"/>
            <a:ext cx="1017727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CI/CD:  </a:t>
            </a: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GitHub Actions · Docker / docker-compose · deploy.ps1 → Azure App Service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9"/>
          <p:cNvSpPr txBox="1"/>
          <p:nvPr>
            <p:ph idx="4294967295" type="sldNum"/>
          </p:nvPr>
        </p:nvSpPr>
        <p:spPr>
          <a:xfrm>
            <a:off x="11274552" y="64008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00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0"/>
          <p:cNvSpPr txBox="1"/>
          <p:nvPr>
            <p:ph type="title"/>
          </p:nvPr>
        </p:nvSpPr>
        <p:spPr>
          <a:xfrm>
            <a:off x="548640" y="64008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chemeClr val="accent1"/>
                </a:solidFill>
              </a:rPr>
              <a:t>Modelo de datos</a:t>
            </a:r>
            <a:endParaRPr sz="3200"/>
          </a:p>
        </p:txBody>
      </p:sp>
      <p:cxnSp>
        <p:nvCxnSpPr>
          <p:cNvPr id="369" name="Google Shape;369;p10"/>
          <p:cNvCxnSpPr/>
          <p:nvPr/>
        </p:nvCxnSpPr>
        <p:spPr>
          <a:xfrm rot="10800000">
            <a:off x="4484802" y="2441448"/>
            <a:ext cx="1115365" cy="804672"/>
          </a:xfrm>
          <a:prstGeom prst="straightConnector1">
            <a:avLst/>
          </a:prstGeom>
          <a:noFill/>
          <a:ln cap="flat" cmpd="sng" w="15875">
            <a:solidFill>
              <a:schemeClr val="accent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0" name="Google Shape;370;p10"/>
          <p:cNvCxnSpPr/>
          <p:nvPr/>
        </p:nvCxnSpPr>
        <p:spPr>
          <a:xfrm rot="10800000">
            <a:off x="6094476" y="2441448"/>
            <a:ext cx="0" cy="804672"/>
          </a:xfrm>
          <a:prstGeom prst="straightConnector1">
            <a:avLst/>
          </a:prstGeom>
          <a:noFill/>
          <a:ln cap="flat" cmpd="sng" w="15875">
            <a:solidFill>
              <a:schemeClr val="accent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1" name="Google Shape;371;p10"/>
          <p:cNvCxnSpPr/>
          <p:nvPr/>
        </p:nvCxnSpPr>
        <p:spPr>
          <a:xfrm flipH="1" rot="10800000">
            <a:off x="6588785" y="2441448"/>
            <a:ext cx="1115365" cy="804672"/>
          </a:xfrm>
          <a:prstGeom prst="straightConnector1">
            <a:avLst/>
          </a:prstGeom>
          <a:noFill/>
          <a:ln cap="flat" cmpd="sng" w="15875">
            <a:solidFill>
              <a:schemeClr val="accent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2" name="Google Shape;372;p10"/>
          <p:cNvCxnSpPr/>
          <p:nvPr/>
        </p:nvCxnSpPr>
        <p:spPr>
          <a:xfrm>
            <a:off x="7205472" y="3602736"/>
            <a:ext cx="187452" cy="0"/>
          </a:xfrm>
          <a:prstGeom prst="straightConnector1">
            <a:avLst/>
          </a:prstGeom>
          <a:noFill/>
          <a:ln cap="flat" cmpd="sng" w="15875">
            <a:solidFill>
              <a:schemeClr val="accent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3" name="Google Shape;373;p10"/>
          <p:cNvCxnSpPr/>
          <p:nvPr/>
        </p:nvCxnSpPr>
        <p:spPr>
          <a:xfrm flipH="1">
            <a:off x="4307357" y="4087368"/>
            <a:ext cx="1115365" cy="804672"/>
          </a:xfrm>
          <a:prstGeom prst="straightConnector1">
            <a:avLst/>
          </a:prstGeom>
          <a:noFill/>
          <a:ln cap="flat" cmpd="sng" w="15875">
            <a:solidFill>
              <a:schemeClr val="accent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4" name="Google Shape;374;p10"/>
          <p:cNvCxnSpPr/>
          <p:nvPr/>
        </p:nvCxnSpPr>
        <p:spPr>
          <a:xfrm>
            <a:off x="6094476" y="4087368"/>
            <a:ext cx="0" cy="804672"/>
          </a:xfrm>
          <a:prstGeom prst="straightConnector1">
            <a:avLst/>
          </a:prstGeom>
          <a:noFill/>
          <a:ln cap="flat" cmpd="sng" w="15875">
            <a:solidFill>
              <a:schemeClr val="accent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5" name="Google Shape;375;p10"/>
          <p:cNvCxnSpPr/>
          <p:nvPr/>
        </p:nvCxnSpPr>
        <p:spPr>
          <a:xfrm>
            <a:off x="6766230" y="4087368"/>
            <a:ext cx="1115365" cy="804672"/>
          </a:xfrm>
          <a:prstGeom prst="straightConnector1">
            <a:avLst/>
          </a:prstGeom>
          <a:noFill/>
          <a:ln cap="flat" cmpd="sng" w="15875">
            <a:solidFill>
              <a:schemeClr val="accent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6" name="Google Shape;376;p10"/>
          <p:cNvCxnSpPr/>
          <p:nvPr/>
        </p:nvCxnSpPr>
        <p:spPr>
          <a:xfrm rot="10800000">
            <a:off x="4796028" y="3602736"/>
            <a:ext cx="315468" cy="0"/>
          </a:xfrm>
          <a:prstGeom prst="straightConnector1">
            <a:avLst/>
          </a:prstGeom>
          <a:noFill/>
          <a:ln cap="flat" cmpd="sng" w="15875">
            <a:solidFill>
              <a:schemeClr val="accent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7" name="Google Shape;377;p10"/>
          <p:cNvCxnSpPr/>
          <p:nvPr/>
        </p:nvCxnSpPr>
        <p:spPr>
          <a:xfrm>
            <a:off x="2642616" y="3602736"/>
            <a:ext cx="187452" cy="0"/>
          </a:xfrm>
          <a:prstGeom prst="straightConnector1">
            <a:avLst/>
          </a:prstGeom>
          <a:noFill/>
          <a:ln cap="flat" cmpd="sng" w="15875">
            <a:solidFill>
              <a:schemeClr val="accent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8" name="Google Shape;378;p10"/>
          <p:cNvCxnSpPr/>
          <p:nvPr/>
        </p:nvCxnSpPr>
        <p:spPr>
          <a:xfrm>
            <a:off x="1531620" y="4087368"/>
            <a:ext cx="0" cy="804672"/>
          </a:xfrm>
          <a:prstGeom prst="straightConnector1">
            <a:avLst/>
          </a:prstGeom>
          <a:noFill/>
          <a:ln cap="flat" cmpd="sng" w="15875">
            <a:solidFill>
              <a:schemeClr val="accent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9" name="Google Shape;379;p10"/>
          <p:cNvCxnSpPr/>
          <p:nvPr/>
        </p:nvCxnSpPr>
        <p:spPr>
          <a:xfrm>
            <a:off x="9486900" y="1956816"/>
            <a:ext cx="187452" cy="0"/>
          </a:xfrm>
          <a:prstGeom prst="straightConnector1">
            <a:avLst/>
          </a:prstGeom>
          <a:noFill/>
          <a:ln cap="flat" cmpd="sng" w="15875">
            <a:solidFill>
              <a:schemeClr val="accent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80" name="Google Shape;380;p10"/>
          <p:cNvCxnSpPr/>
          <p:nvPr/>
        </p:nvCxnSpPr>
        <p:spPr>
          <a:xfrm>
            <a:off x="9358884" y="3602736"/>
            <a:ext cx="315468" cy="0"/>
          </a:xfrm>
          <a:prstGeom prst="straightConnector1">
            <a:avLst/>
          </a:prstGeom>
          <a:noFill/>
          <a:ln cap="flat" cmpd="sng" w="15875">
            <a:solidFill>
              <a:schemeClr val="accent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81" name="Google Shape;381;p10"/>
          <p:cNvSpPr/>
          <p:nvPr/>
        </p:nvSpPr>
        <p:spPr>
          <a:xfrm>
            <a:off x="2958084" y="1728216"/>
            <a:ext cx="1965960" cy="713232"/>
          </a:xfrm>
          <a:prstGeom prst="roundRect">
            <a:avLst>
              <a:gd fmla="val 12821" name="adj"/>
            </a:avLst>
          </a:prstGeom>
          <a:solidFill>
            <a:schemeClr val="lt2"/>
          </a:solidFill>
          <a:ln cap="flat" cmpd="sng" w="9525">
            <a:solidFill>
              <a:srgbClr val="C07A2A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0"/>
          <p:cNvSpPr/>
          <p:nvPr/>
        </p:nvSpPr>
        <p:spPr>
          <a:xfrm>
            <a:off x="2894076" y="1664208"/>
            <a:ext cx="1965960" cy="713232"/>
          </a:xfrm>
          <a:prstGeom prst="roundRect">
            <a:avLst>
              <a:gd fmla="val 12821" name="adj"/>
            </a:avLst>
          </a:prstGeom>
          <a:solidFill>
            <a:schemeClr val="lt2"/>
          </a:solidFill>
          <a:ln cap="flat" cmpd="sng" w="9525">
            <a:solidFill>
              <a:srgbClr val="C07A2A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0"/>
          <p:cNvSpPr/>
          <p:nvPr/>
        </p:nvSpPr>
        <p:spPr>
          <a:xfrm>
            <a:off x="2830068" y="1600200"/>
            <a:ext cx="1965960" cy="713232"/>
          </a:xfrm>
          <a:prstGeom prst="roundRect">
            <a:avLst>
              <a:gd fmla="val 12821" name="adj"/>
            </a:avLst>
          </a:prstGeom>
          <a:solidFill>
            <a:srgbClr val="FAEEDD"/>
          </a:solidFill>
          <a:ln cap="flat" cmpd="sng" w="12700">
            <a:solidFill>
              <a:srgbClr val="C07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0"/>
          <p:cNvSpPr txBox="1"/>
          <p:nvPr/>
        </p:nvSpPr>
        <p:spPr>
          <a:xfrm>
            <a:off x="2875788" y="1709928"/>
            <a:ext cx="1874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4A12"/>
              </a:buClr>
              <a:buSzPts val="1300"/>
              <a:buFont typeface="Courier New"/>
              <a:buNone/>
            </a:pPr>
            <a:r>
              <a:rPr b="1" lang="en-US" sz="1300">
                <a:solidFill>
                  <a:srgbClr val="7A4A12"/>
                </a:solidFill>
                <a:latin typeface="Courier New"/>
                <a:ea typeface="Courier New"/>
                <a:cs typeface="Courier New"/>
                <a:sym typeface="Courier New"/>
              </a:rPr>
              <a:t>care_tasks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0"/>
          <p:cNvSpPr txBox="1"/>
          <p:nvPr/>
        </p:nvSpPr>
        <p:spPr>
          <a:xfrm>
            <a:off x="2875788" y="2002536"/>
            <a:ext cx="1874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7A2A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C07A2A"/>
                </a:solidFill>
                <a:latin typeface="Calibri"/>
                <a:ea typeface="Calibri"/>
                <a:cs typeface="Calibri"/>
                <a:sym typeface="Calibri"/>
              </a:rPr>
              <a:t>Tareas de cuidado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0"/>
          <p:cNvSpPr/>
          <p:nvPr/>
        </p:nvSpPr>
        <p:spPr>
          <a:xfrm>
            <a:off x="4338828" y="1380744"/>
            <a:ext cx="566928" cy="27432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12700">
            <a:solidFill>
              <a:srgbClr val="C07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0"/>
          <p:cNvSpPr txBox="1"/>
          <p:nvPr/>
        </p:nvSpPr>
        <p:spPr>
          <a:xfrm>
            <a:off x="4338828" y="1380744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4A12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7A4A12"/>
                </a:solidFill>
                <a:latin typeface="Calibri"/>
                <a:ea typeface="Calibri"/>
                <a:cs typeface="Calibri"/>
                <a:sym typeface="Calibri"/>
              </a:rPr>
              <a:t>+1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0"/>
          <p:cNvSpPr/>
          <p:nvPr/>
        </p:nvSpPr>
        <p:spPr>
          <a:xfrm>
            <a:off x="5239512" y="1728216"/>
            <a:ext cx="1965960" cy="713232"/>
          </a:xfrm>
          <a:prstGeom prst="roundRect">
            <a:avLst>
              <a:gd fmla="val 12821" name="adj"/>
            </a:avLst>
          </a:prstGeom>
          <a:solidFill>
            <a:schemeClr val="lt2"/>
          </a:solidFill>
          <a:ln cap="flat" cmpd="sng" w="9525">
            <a:solidFill>
              <a:srgbClr val="3B6FB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0"/>
          <p:cNvSpPr/>
          <p:nvPr/>
        </p:nvSpPr>
        <p:spPr>
          <a:xfrm>
            <a:off x="5175504" y="1664208"/>
            <a:ext cx="1965960" cy="713232"/>
          </a:xfrm>
          <a:prstGeom prst="roundRect">
            <a:avLst>
              <a:gd fmla="val 12821" name="adj"/>
            </a:avLst>
          </a:prstGeom>
          <a:solidFill>
            <a:schemeClr val="lt2"/>
          </a:solidFill>
          <a:ln cap="flat" cmpd="sng" w="9525">
            <a:solidFill>
              <a:srgbClr val="3B6FB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0"/>
          <p:cNvSpPr/>
          <p:nvPr/>
        </p:nvSpPr>
        <p:spPr>
          <a:xfrm>
            <a:off x="5111496" y="1600200"/>
            <a:ext cx="1965960" cy="713232"/>
          </a:xfrm>
          <a:prstGeom prst="roundRect">
            <a:avLst>
              <a:gd fmla="val 12821" name="adj"/>
            </a:avLst>
          </a:prstGeom>
          <a:solidFill>
            <a:srgbClr val="E4ECF7"/>
          </a:solidFill>
          <a:ln cap="flat" cmpd="sng" w="12700">
            <a:solidFill>
              <a:srgbClr val="3B6F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0"/>
          <p:cNvSpPr txBox="1"/>
          <p:nvPr/>
        </p:nvSpPr>
        <p:spPr>
          <a:xfrm>
            <a:off x="5157216" y="1709928"/>
            <a:ext cx="1874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8C"/>
              </a:buClr>
              <a:buSzPts val="1300"/>
              <a:buFont typeface="Courier New"/>
              <a:buNone/>
            </a:pPr>
            <a:r>
              <a:rPr b="1" lang="en-US" sz="1300">
                <a:solidFill>
                  <a:srgbClr val="1F4E8C"/>
                </a:solidFill>
                <a:latin typeface="Courier New"/>
                <a:ea typeface="Courier New"/>
                <a:cs typeface="Courier New"/>
                <a:sym typeface="Courier New"/>
              </a:rPr>
              <a:t>vital_readings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0"/>
          <p:cNvSpPr txBox="1"/>
          <p:nvPr/>
        </p:nvSpPr>
        <p:spPr>
          <a:xfrm>
            <a:off x="5157216" y="2002536"/>
            <a:ext cx="1874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6FB6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B6FB6"/>
                </a:solidFill>
                <a:latin typeface="Calibri"/>
                <a:ea typeface="Calibri"/>
                <a:cs typeface="Calibri"/>
                <a:sym typeface="Calibri"/>
              </a:rPr>
              <a:t>Signos vitales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0"/>
          <p:cNvSpPr/>
          <p:nvPr/>
        </p:nvSpPr>
        <p:spPr>
          <a:xfrm>
            <a:off x="6620256" y="1380744"/>
            <a:ext cx="566928" cy="27432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12700">
            <a:solidFill>
              <a:srgbClr val="3B6F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0"/>
          <p:cNvSpPr txBox="1"/>
          <p:nvPr/>
        </p:nvSpPr>
        <p:spPr>
          <a:xfrm>
            <a:off x="6620256" y="1380744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8C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F4E8C"/>
                </a:solidFill>
                <a:latin typeface="Calibri"/>
                <a:ea typeface="Calibri"/>
                <a:cs typeface="Calibri"/>
                <a:sym typeface="Calibri"/>
              </a:rPr>
              <a:t>+1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0"/>
          <p:cNvSpPr/>
          <p:nvPr/>
        </p:nvSpPr>
        <p:spPr>
          <a:xfrm>
            <a:off x="7520940" y="1728216"/>
            <a:ext cx="1965960" cy="713232"/>
          </a:xfrm>
          <a:prstGeom prst="roundRect">
            <a:avLst>
              <a:gd fmla="val 12821" name="adj"/>
            </a:avLst>
          </a:prstGeom>
          <a:solidFill>
            <a:schemeClr val="lt2"/>
          </a:solidFill>
          <a:ln cap="flat" cmpd="sng" w="9525">
            <a:solidFill>
              <a:srgbClr val="3B6FB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0"/>
          <p:cNvSpPr/>
          <p:nvPr/>
        </p:nvSpPr>
        <p:spPr>
          <a:xfrm>
            <a:off x="7456932" y="1664208"/>
            <a:ext cx="1965960" cy="713232"/>
          </a:xfrm>
          <a:prstGeom prst="roundRect">
            <a:avLst>
              <a:gd fmla="val 12821" name="adj"/>
            </a:avLst>
          </a:prstGeom>
          <a:solidFill>
            <a:schemeClr val="lt2"/>
          </a:solidFill>
          <a:ln cap="flat" cmpd="sng" w="9525">
            <a:solidFill>
              <a:srgbClr val="3B6FB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0"/>
          <p:cNvSpPr/>
          <p:nvPr/>
        </p:nvSpPr>
        <p:spPr>
          <a:xfrm>
            <a:off x="7392924" y="1600200"/>
            <a:ext cx="1965960" cy="713232"/>
          </a:xfrm>
          <a:prstGeom prst="roundRect">
            <a:avLst>
              <a:gd fmla="val 12821" name="adj"/>
            </a:avLst>
          </a:prstGeom>
          <a:solidFill>
            <a:srgbClr val="E4ECF7"/>
          </a:solidFill>
          <a:ln cap="flat" cmpd="sng" w="12700">
            <a:solidFill>
              <a:srgbClr val="3B6F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0"/>
          <p:cNvSpPr txBox="1"/>
          <p:nvPr/>
        </p:nvSpPr>
        <p:spPr>
          <a:xfrm>
            <a:off x="7438644" y="1709928"/>
            <a:ext cx="1874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8C"/>
              </a:buClr>
              <a:buSzPts val="1300"/>
              <a:buFont typeface="Courier New"/>
              <a:buNone/>
            </a:pPr>
            <a:r>
              <a:rPr b="1" lang="en-US" sz="1300">
                <a:solidFill>
                  <a:srgbClr val="1F4E8C"/>
                </a:solidFill>
                <a:latin typeface="Courier New"/>
                <a:ea typeface="Courier New"/>
                <a:cs typeface="Courier New"/>
                <a:sym typeface="Courier New"/>
              </a:rPr>
              <a:t>medications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0"/>
          <p:cNvSpPr txBox="1"/>
          <p:nvPr/>
        </p:nvSpPr>
        <p:spPr>
          <a:xfrm>
            <a:off x="7438644" y="2002536"/>
            <a:ext cx="1874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6FB6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B6FB6"/>
                </a:solidFill>
                <a:latin typeface="Calibri"/>
                <a:ea typeface="Calibri"/>
                <a:cs typeface="Calibri"/>
                <a:sym typeface="Calibri"/>
              </a:rPr>
              <a:t>Plan de medicamentos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0"/>
          <p:cNvSpPr/>
          <p:nvPr/>
        </p:nvSpPr>
        <p:spPr>
          <a:xfrm>
            <a:off x="8901684" y="1380744"/>
            <a:ext cx="566928" cy="27432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12700">
            <a:solidFill>
              <a:srgbClr val="3B6F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0"/>
          <p:cNvSpPr txBox="1"/>
          <p:nvPr/>
        </p:nvSpPr>
        <p:spPr>
          <a:xfrm>
            <a:off x="8901684" y="1380744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8C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F4E8C"/>
                </a:solidFill>
                <a:latin typeface="Calibri"/>
                <a:ea typeface="Calibri"/>
                <a:cs typeface="Calibri"/>
                <a:sym typeface="Calibri"/>
              </a:rPr>
              <a:t>+2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0"/>
          <p:cNvSpPr/>
          <p:nvPr/>
        </p:nvSpPr>
        <p:spPr>
          <a:xfrm>
            <a:off x="9674352" y="1600200"/>
            <a:ext cx="1965960" cy="713232"/>
          </a:xfrm>
          <a:prstGeom prst="roundRect">
            <a:avLst>
              <a:gd fmla="val 12821" name="adj"/>
            </a:avLst>
          </a:prstGeom>
          <a:solidFill>
            <a:srgbClr val="E4ECF7"/>
          </a:solidFill>
          <a:ln cap="flat" cmpd="sng" w="12700">
            <a:solidFill>
              <a:srgbClr val="3B6F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0"/>
          <p:cNvSpPr txBox="1"/>
          <p:nvPr/>
        </p:nvSpPr>
        <p:spPr>
          <a:xfrm>
            <a:off x="9720072" y="1709928"/>
            <a:ext cx="1874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8C"/>
              </a:buClr>
              <a:buSzPts val="1300"/>
              <a:buFont typeface="Courier New"/>
              <a:buNone/>
            </a:pPr>
            <a:r>
              <a:rPr b="1" lang="en-US" sz="1300">
                <a:solidFill>
                  <a:srgbClr val="1F4E8C"/>
                </a:solidFill>
                <a:latin typeface="Courier New"/>
                <a:ea typeface="Courier New"/>
                <a:cs typeface="Courier New"/>
                <a:sym typeface="Courier New"/>
              </a:rPr>
              <a:t>scheduled_doses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0"/>
          <p:cNvSpPr txBox="1"/>
          <p:nvPr/>
        </p:nvSpPr>
        <p:spPr>
          <a:xfrm>
            <a:off x="9720072" y="2002536"/>
            <a:ext cx="1874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6FB6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B6FB6"/>
                </a:solidFill>
                <a:latin typeface="Calibri"/>
                <a:ea typeface="Calibri"/>
                <a:cs typeface="Calibri"/>
                <a:sym typeface="Calibri"/>
              </a:rPr>
              <a:t>Dosis programadas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0"/>
          <p:cNvSpPr/>
          <p:nvPr/>
        </p:nvSpPr>
        <p:spPr>
          <a:xfrm>
            <a:off x="676656" y="3374136"/>
            <a:ext cx="1965960" cy="713232"/>
          </a:xfrm>
          <a:prstGeom prst="roundRect">
            <a:avLst>
              <a:gd fmla="val 12821" name="adj"/>
            </a:avLst>
          </a:prstGeom>
          <a:solidFill>
            <a:schemeClr val="lt2"/>
          </a:solidFill>
          <a:ln cap="flat" cmpd="sng" w="9525">
            <a:solidFill>
              <a:srgbClr val="7A5BB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0"/>
          <p:cNvSpPr/>
          <p:nvPr/>
        </p:nvSpPr>
        <p:spPr>
          <a:xfrm>
            <a:off x="612648" y="3310128"/>
            <a:ext cx="1965960" cy="713232"/>
          </a:xfrm>
          <a:prstGeom prst="roundRect">
            <a:avLst>
              <a:gd fmla="val 12821" name="adj"/>
            </a:avLst>
          </a:prstGeom>
          <a:solidFill>
            <a:schemeClr val="lt2"/>
          </a:solidFill>
          <a:ln cap="flat" cmpd="sng" w="9525">
            <a:solidFill>
              <a:srgbClr val="7A5BB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0"/>
          <p:cNvSpPr/>
          <p:nvPr/>
        </p:nvSpPr>
        <p:spPr>
          <a:xfrm>
            <a:off x="548640" y="3246120"/>
            <a:ext cx="1965960" cy="713232"/>
          </a:xfrm>
          <a:prstGeom prst="roundRect">
            <a:avLst>
              <a:gd fmla="val 12821" name="adj"/>
            </a:avLst>
          </a:prstGeom>
          <a:solidFill>
            <a:srgbClr val="ECE6F6"/>
          </a:solidFill>
          <a:ln cap="flat" cmpd="sng" w="12700">
            <a:solidFill>
              <a:srgbClr val="7A5B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0"/>
          <p:cNvSpPr txBox="1"/>
          <p:nvPr/>
        </p:nvSpPr>
        <p:spPr>
          <a:xfrm>
            <a:off x="594360" y="3355848"/>
            <a:ext cx="1874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3A8C"/>
              </a:buClr>
              <a:buSzPts val="1300"/>
              <a:buFont typeface="Courier New"/>
              <a:buNone/>
            </a:pPr>
            <a:r>
              <a:rPr b="1" lang="en-US" sz="1300">
                <a:solidFill>
                  <a:srgbClr val="4B3A8C"/>
                </a:solidFill>
                <a:latin typeface="Courier New"/>
                <a:ea typeface="Courier New"/>
                <a:cs typeface="Courier New"/>
                <a:sym typeface="Courier New"/>
              </a:rPr>
              <a:t>users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0"/>
          <p:cNvSpPr txBox="1"/>
          <p:nvPr/>
        </p:nvSpPr>
        <p:spPr>
          <a:xfrm>
            <a:off x="594360" y="3648456"/>
            <a:ext cx="1874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5BB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7A5BB5"/>
                </a:solidFill>
                <a:latin typeface="Calibri"/>
                <a:ea typeface="Calibri"/>
                <a:cs typeface="Calibri"/>
                <a:sym typeface="Calibri"/>
              </a:rPr>
              <a:t>Cualquier persona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0"/>
          <p:cNvSpPr/>
          <p:nvPr/>
        </p:nvSpPr>
        <p:spPr>
          <a:xfrm>
            <a:off x="2057400" y="3026664"/>
            <a:ext cx="566928" cy="27432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12700">
            <a:solidFill>
              <a:srgbClr val="7A5B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0"/>
          <p:cNvSpPr txBox="1"/>
          <p:nvPr/>
        </p:nvSpPr>
        <p:spPr>
          <a:xfrm>
            <a:off x="2057400" y="3026664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3A8C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4B3A8C"/>
                </a:solidFill>
                <a:latin typeface="Calibri"/>
                <a:ea typeface="Calibri"/>
                <a:cs typeface="Calibri"/>
                <a:sym typeface="Calibri"/>
              </a:rPr>
              <a:t>+6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0"/>
          <p:cNvSpPr/>
          <p:nvPr/>
        </p:nvSpPr>
        <p:spPr>
          <a:xfrm>
            <a:off x="2830068" y="3246120"/>
            <a:ext cx="1965960" cy="713232"/>
          </a:xfrm>
          <a:prstGeom prst="roundRect">
            <a:avLst>
              <a:gd fmla="val 12821" name="adj"/>
            </a:avLst>
          </a:prstGeom>
          <a:solidFill>
            <a:srgbClr val="EFEDE8"/>
          </a:solidFill>
          <a:ln cap="flat" cmpd="sng" w="12700">
            <a:solidFill>
              <a:srgbClr val="6B76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0"/>
          <p:cNvSpPr txBox="1"/>
          <p:nvPr/>
        </p:nvSpPr>
        <p:spPr>
          <a:xfrm>
            <a:off x="2875788" y="3355848"/>
            <a:ext cx="1874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27"/>
              </a:buClr>
              <a:buSzPts val="1300"/>
              <a:buFont typeface="Courier New"/>
              <a:buNone/>
            </a:pPr>
            <a:r>
              <a:rPr b="1" lang="en-US" sz="1300">
                <a:solidFill>
                  <a:srgbClr val="1F2A27"/>
                </a:solidFill>
                <a:latin typeface="Courier New"/>
                <a:ea typeface="Courier New"/>
                <a:cs typeface="Courier New"/>
                <a:sym typeface="Courier New"/>
              </a:rPr>
              <a:t>patient_members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0"/>
          <p:cNvSpPr txBox="1"/>
          <p:nvPr/>
        </p:nvSpPr>
        <p:spPr>
          <a:xfrm>
            <a:off x="2875788" y="3648456"/>
            <a:ext cx="1874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671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6B7671"/>
                </a:solidFill>
                <a:latin typeface="Calibri"/>
                <a:ea typeface="Calibri"/>
                <a:cs typeface="Calibri"/>
                <a:sym typeface="Calibri"/>
              </a:rPr>
              <a:t>Rol en cada paciente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0"/>
          <p:cNvSpPr/>
          <p:nvPr/>
        </p:nvSpPr>
        <p:spPr>
          <a:xfrm>
            <a:off x="5239512" y="3374136"/>
            <a:ext cx="1965960" cy="713232"/>
          </a:xfrm>
          <a:prstGeom prst="roundRect">
            <a:avLst>
              <a:gd fmla="val 12821" name="adj"/>
            </a:avLst>
          </a:prstGeom>
          <a:solidFill>
            <a:schemeClr val="lt2"/>
          </a:solidFill>
          <a:ln cap="flat" cmpd="sng" w="9525">
            <a:solidFill>
              <a:srgbClr val="1A6B5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0"/>
          <p:cNvSpPr/>
          <p:nvPr/>
        </p:nvSpPr>
        <p:spPr>
          <a:xfrm>
            <a:off x="5175504" y="3310128"/>
            <a:ext cx="1965960" cy="713232"/>
          </a:xfrm>
          <a:prstGeom prst="roundRect">
            <a:avLst>
              <a:gd fmla="val 12821" name="adj"/>
            </a:avLst>
          </a:prstGeom>
          <a:solidFill>
            <a:schemeClr val="lt2"/>
          </a:solidFill>
          <a:ln cap="flat" cmpd="sng" w="9525">
            <a:solidFill>
              <a:srgbClr val="1A6B5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0"/>
          <p:cNvSpPr/>
          <p:nvPr/>
        </p:nvSpPr>
        <p:spPr>
          <a:xfrm>
            <a:off x="5111496" y="3246120"/>
            <a:ext cx="1965960" cy="713232"/>
          </a:xfrm>
          <a:prstGeom prst="roundRect">
            <a:avLst>
              <a:gd fmla="val 12821" name="adj"/>
            </a:avLst>
          </a:prstGeom>
          <a:solidFill>
            <a:srgbClr val="E2EFEA"/>
          </a:solidFill>
          <a:ln cap="flat" cmpd="sng" w="28575">
            <a:solidFill>
              <a:srgbClr val="1A6B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0"/>
          <p:cNvSpPr txBox="1"/>
          <p:nvPr/>
        </p:nvSpPr>
        <p:spPr>
          <a:xfrm>
            <a:off x="5157216" y="3355848"/>
            <a:ext cx="1874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4E43"/>
              </a:buClr>
              <a:buSzPts val="1300"/>
              <a:buFont typeface="Courier New"/>
              <a:buNone/>
            </a:pPr>
            <a:r>
              <a:rPr b="1" lang="en-US" sz="1300">
                <a:solidFill>
                  <a:srgbClr val="134E43"/>
                </a:solidFill>
                <a:latin typeface="Courier New"/>
                <a:ea typeface="Courier New"/>
                <a:cs typeface="Courier New"/>
                <a:sym typeface="Courier New"/>
              </a:rPr>
              <a:t>patients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0"/>
          <p:cNvSpPr txBox="1"/>
          <p:nvPr/>
        </p:nvSpPr>
        <p:spPr>
          <a:xfrm>
            <a:off x="5157216" y="3648456"/>
            <a:ext cx="1874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6B5C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A6B5C"/>
                </a:solidFill>
                <a:latin typeface="Calibri"/>
                <a:ea typeface="Calibri"/>
                <a:cs typeface="Calibri"/>
                <a:sym typeface="Calibri"/>
              </a:rPr>
              <a:t>Expediente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0"/>
          <p:cNvSpPr/>
          <p:nvPr/>
        </p:nvSpPr>
        <p:spPr>
          <a:xfrm>
            <a:off x="6620256" y="3026664"/>
            <a:ext cx="566928" cy="27432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12700">
            <a:solidFill>
              <a:srgbClr val="1A6B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0"/>
          <p:cNvSpPr txBox="1"/>
          <p:nvPr/>
        </p:nvSpPr>
        <p:spPr>
          <a:xfrm>
            <a:off x="6620256" y="3026664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4E43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34E43"/>
                </a:solidFill>
                <a:latin typeface="Calibri"/>
                <a:ea typeface="Calibri"/>
                <a:cs typeface="Calibri"/>
                <a:sym typeface="Calibri"/>
              </a:rPr>
              <a:t>+3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0"/>
          <p:cNvSpPr/>
          <p:nvPr/>
        </p:nvSpPr>
        <p:spPr>
          <a:xfrm>
            <a:off x="7392924" y="3246120"/>
            <a:ext cx="1965960" cy="713232"/>
          </a:xfrm>
          <a:prstGeom prst="roundRect">
            <a:avLst>
              <a:gd fmla="val 12821" name="adj"/>
            </a:avLst>
          </a:prstGeom>
          <a:solidFill>
            <a:srgbClr val="FBE3E1"/>
          </a:solidFill>
          <a:ln cap="flat" cmpd="sng" w="12700">
            <a:solidFill>
              <a:srgbClr val="D953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0"/>
          <p:cNvSpPr txBox="1"/>
          <p:nvPr/>
        </p:nvSpPr>
        <p:spPr>
          <a:xfrm>
            <a:off x="7438644" y="3355848"/>
            <a:ext cx="1874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E2F2A"/>
              </a:buClr>
              <a:buSzPts val="1300"/>
              <a:buFont typeface="Courier New"/>
              <a:buNone/>
            </a:pPr>
            <a:r>
              <a:rPr b="1" lang="en-US" sz="1300">
                <a:solidFill>
                  <a:srgbClr val="8E2F2A"/>
                </a:solidFill>
                <a:latin typeface="Courier New"/>
                <a:ea typeface="Courier New"/>
                <a:cs typeface="Courier New"/>
                <a:sym typeface="Courier New"/>
              </a:rPr>
              <a:t>alerts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0"/>
          <p:cNvSpPr txBox="1"/>
          <p:nvPr/>
        </p:nvSpPr>
        <p:spPr>
          <a:xfrm>
            <a:off x="7438644" y="3648456"/>
            <a:ext cx="1874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534F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D9534F"/>
                </a:solidFill>
                <a:latin typeface="Calibri"/>
                <a:ea typeface="Calibri"/>
                <a:cs typeface="Calibri"/>
                <a:sym typeface="Calibri"/>
              </a:rPr>
              <a:t>Alertas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0"/>
          <p:cNvSpPr/>
          <p:nvPr/>
        </p:nvSpPr>
        <p:spPr>
          <a:xfrm>
            <a:off x="9674352" y="3246120"/>
            <a:ext cx="1965960" cy="713232"/>
          </a:xfrm>
          <a:prstGeom prst="roundRect">
            <a:avLst>
              <a:gd fmla="val 12821" name="adj"/>
            </a:avLst>
          </a:prstGeom>
          <a:solidFill>
            <a:srgbClr val="FBE3E1"/>
          </a:solidFill>
          <a:ln cap="flat" cmpd="sng" w="12700">
            <a:solidFill>
              <a:srgbClr val="D953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0"/>
          <p:cNvSpPr txBox="1"/>
          <p:nvPr/>
        </p:nvSpPr>
        <p:spPr>
          <a:xfrm>
            <a:off x="9720072" y="3355848"/>
            <a:ext cx="1874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E2F2A"/>
              </a:buClr>
              <a:buSzPts val="1300"/>
              <a:buFont typeface="Courier New"/>
              <a:buNone/>
            </a:pPr>
            <a:r>
              <a:rPr b="1" lang="en-US" sz="1300">
                <a:solidFill>
                  <a:srgbClr val="8E2F2A"/>
                </a:solidFill>
                <a:latin typeface="Courier New"/>
                <a:ea typeface="Courier New"/>
                <a:cs typeface="Courier New"/>
                <a:sym typeface="Courier New"/>
              </a:rPr>
              <a:t>sos_events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0"/>
          <p:cNvSpPr txBox="1"/>
          <p:nvPr/>
        </p:nvSpPr>
        <p:spPr>
          <a:xfrm>
            <a:off x="9720072" y="3648456"/>
            <a:ext cx="1874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534F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D9534F"/>
                </a:solidFill>
                <a:latin typeface="Calibri"/>
                <a:ea typeface="Calibri"/>
                <a:cs typeface="Calibri"/>
                <a:sym typeface="Calibri"/>
              </a:rPr>
              <a:t>Eventos SOS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0"/>
          <p:cNvSpPr/>
          <p:nvPr/>
        </p:nvSpPr>
        <p:spPr>
          <a:xfrm>
            <a:off x="676656" y="5020056"/>
            <a:ext cx="1965960" cy="713232"/>
          </a:xfrm>
          <a:prstGeom prst="roundRect">
            <a:avLst>
              <a:gd fmla="val 12821" name="adj"/>
            </a:avLst>
          </a:prstGeom>
          <a:solidFill>
            <a:schemeClr val="lt2"/>
          </a:solidFill>
          <a:ln cap="flat" cmpd="sng" w="9525">
            <a:solidFill>
              <a:srgbClr val="C07A2A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0"/>
          <p:cNvSpPr/>
          <p:nvPr/>
        </p:nvSpPr>
        <p:spPr>
          <a:xfrm>
            <a:off x="612648" y="4956048"/>
            <a:ext cx="1965960" cy="713232"/>
          </a:xfrm>
          <a:prstGeom prst="roundRect">
            <a:avLst>
              <a:gd fmla="val 12821" name="adj"/>
            </a:avLst>
          </a:prstGeom>
          <a:solidFill>
            <a:schemeClr val="lt2"/>
          </a:solidFill>
          <a:ln cap="flat" cmpd="sng" w="9525">
            <a:solidFill>
              <a:srgbClr val="C07A2A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0"/>
          <p:cNvSpPr/>
          <p:nvPr/>
        </p:nvSpPr>
        <p:spPr>
          <a:xfrm>
            <a:off x="548640" y="4892040"/>
            <a:ext cx="1965960" cy="713232"/>
          </a:xfrm>
          <a:prstGeom prst="roundRect">
            <a:avLst>
              <a:gd fmla="val 12821" name="adj"/>
            </a:avLst>
          </a:prstGeom>
          <a:solidFill>
            <a:srgbClr val="FAEEDD"/>
          </a:solidFill>
          <a:ln cap="flat" cmpd="sng" w="12700">
            <a:solidFill>
              <a:srgbClr val="C07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0"/>
          <p:cNvSpPr txBox="1"/>
          <p:nvPr/>
        </p:nvSpPr>
        <p:spPr>
          <a:xfrm>
            <a:off x="594360" y="5001768"/>
            <a:ext cx="1874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4A12"/>
              </a:buClr>
              <a:buSzPts val="1200"/>
              <a:buFont typeface="Courier New"/>
              <a:buNone/>
            </a:pPr>
            <a:r>
              <a:rPr b="1" lang="en-US" sz="1200">
                <a:solidFill>
                  <a:srgbClr val="7A4A12"/>
                </a:solidFill>
                <a:latin typeface="Courier New"/>
                <a:ea typeface="Courier New"/>
                <a:cs typeface="Courier New"/>
                <a:sym typeface="Courier New"/>
              </a:rPr>
              <a:t>caregiver_profiles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0"/>
          <p:cNvSpPr txBox="1"/>
          <p:nvPr/>
        </p:nvSpPr>
        <p:spPr>
          <a:xfrm>
            <a:off x="594360" y="5294376"/>
            <a:ext cx="1874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7A2A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C07A2A"/>
                </a:solidFill>
                <a:latin typeface="Calibri"/>
                <a:ea typeface="Calibri"/>
                <a:cs typeface="Calibri"/>
                <a:sym typeface="Calibri"/>
              </a:rPr>
              <a:t>Perfil de cuidadora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0"/>
          <p:cNvSpPr/>
          <p:nvPr/>
        </p:nvSpPr>
        <p:spPr>
          <a:xfrm>
            <a:off x="2057400" y="4672584"/>
            <a:ext cx="566928" cy="27432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12700">
            <a:solidFill>
              <a:srgbClr val="C07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0"/>
          <p:cNvSpPr txBox="1"/>
          <p:nvPr/>
        </p:nvSpPr>
        <p:spPr>
          <a:xfrm>
            <a:off x="2057400" y="4672584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4A12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7A4A12"/>
                </a:solidFill>
                <a:latin typeface="Calibri"/>
                <a:ea typeface="Calibri"/>
                <a:cs typeface="Calibri"/>
                <a:sym typeface="Calibri"/>
              </a:rPr>
              <a:t>+10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0"/>
          <p:cNvSpPr/>
          <p:nvPr/>
        </p:nvSpPr>
        <p:spPr>
          <a:xfrm>
            <a:off x="2958084" y="5020056"/>
            <a:ext cx="1965960" cy="713232"/>
          </a:xfrm>
          <a:prstGeom prst="roundRect">
            <a:avLst>
              <a:gd fmla="val 12821" name="adj"/>
            </a:avLst>
          </a:prstGeom>
          <a:solidFill>
            <a:schemeClr val="lt2"/>
          </a:solidFill>
          <a:ln cap="flat" cmpd="sng" w="9525">
            <a:solidFill>
              <a:srgbClr val="D9534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0"/>
          <p:cNvSpPr/>
          <p:nvPr/>
        </p:nvSpPr>
        <p:spPr>
          <a:xfrm>
            <a:off x="2894076" y="4956048"/>
            <a:ext cx="1965960" cy="713232"/>
          </a:xfrm>
          <a:prstGeom prst="roundRect">
            <a:avLst>
              <a:gd fmla="val 12821" name="adj"/>
            </a:avLst>
          </a:prstGeom>
          <a:solidFill>
            <a:schemeClr val="lt2"/>
          </a:solidFill>
          <a:ln cap="flat" cmpd="sng" w="9525">
            <a:solidFill>
              <a:srgbClr val="D9534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0"/>
          <p:cNvSpPr/>
          <p:nvPr/>
        </p:nvSpPr>
        <p:spPr>
          <a:xfrm>
            <a:off x="2830068" y="4892040"/>
            <a:ext cx="1965960" cy="713232"/>
          </a:xfrm>
          <a:prstGeom prst="roundRect">
            <a:avLst>
              <a:gd fmla="val 12821" name="adj"/>
            </a:avLst>
          </a:prstGeom>
          <a:solidFill>
            <a:srgbClr val="FBE3E1"/>
          </a:solidFill>
          <a:ln cap="flat" cmpd="sng" w="12700">
            <a:solidFill>
              <a:srgbClr val="D953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0"/>
          <p:cNvSpPr txBox="1"/>
          <p:nvPr/>
        </p:nvSpPr>
        <p:spPr>
          <a:xfrm>
            <a:off x="2875788" y="5001768"/>
            <a:ext cx="1874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E2F2A"/>
              </a:buClr>
              <a:buSzPts val="1300"/>
              <a:buFont typeface="Courier New"/>
              <a:buNone/>
            </a:pPr>
            <a:r>
              <a:rPr b="1" lang="en-US" sz="1300">
                <a:solidFill>
                  <a:srgbClr val="8E2F2A"/>
                </a:solidFill>
                <a:latin typeface="Courier New"/>
                <a:ea typeface="Courier New"/>
                <a:cs typeface="Courier New"/>
                <a:sym typeface="Courier New"/>
              </a:rPr>
              <a:t>observations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0"/>
          <p:cNvSpPr txBox="1"/>
          <p:nvPr/>
        </p:nvSpPr>
        <p:spPr>
          <a:xfrm>
            <a:off x="2875788" y="5294376"/>
            <a:ext cx="1874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534F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D9534F"/>
                </a:solidFill>
                <a:latin typeface="Calibri"/>
                <a:ea typeface="Calibri"/>
                <a:cs typeface="Calibri"/>
                <a:sym typeface="Calibri"/>
              </a:rPr>
              <a:t>Bitácora diaria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0"/>
          <p:cNvSpPr/>
          <p:nvPr/>
        </p:nvSpPr>
        <p:spPr>
          <a:xfrm>
            <a:off x="4338828" y="4672584"/>
            <a:ext cx="566928" cy="27432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12700">
            <a:solidFill>
              <a:srgbClr val="D953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0"/>
          <p:cNvSpPr txBox="1"/>
          <p:nvPr/>
        </p:nvSpPr>
        <p:spPr>
          <a:xfrm>
            <a:off x="4338828" y="4672584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E2F2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8E2F2A"/>
                </a:solidFill>
                <a:latin typeface="Calibri"/>
                <a:ea typeface="Calibri"/>
                <a:cs typeface="Calibri"/>
                <a:sym typeface="Calibri"/>
              </a:rPr>
              <a:t>+3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0"/>
          <p:cNvSpPr/>
          <p:nvPr/>
        </p:nvSpPr>
        <p:spPr>
          <a:xfrm>
            <a:off x="5239512" y="5020056"/>
            <a:ext cx="1965960" cy="713232"/>
          </a:xfrm>
          <a:prstGeom prst="roundRect">
            <a:avLst>
              <a:gd fmla="val 12821" name="adj"/>
            </a:avLst>
          </a:prstGeom>
          <a:solidFill>
            <a:schemeClr val="lt2"/>
          </a:solidFill>
          <a:ln cap="flat" cmpd="sng" w="9525">
            <a:solidFill>
              <a:srgbClr val="B04A7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0"/>
          <p:cNvSpPr/>
          <p:nvPr/>
        </p:nvSpPr>
        <p:spPr>
          <a:xfrm>
            <a:off x="5175504" y="4956048"/>
            <a:ext cx="1965960" cy="713232"/>
          </a:xfrm>
          <a:prstGeom prst="roundRect">
            <a:avLst>
              <a:gd fmla="val 12821" name="adj"/>
            </a:avLst>
          </a:prstGeom>
          <a:solidFill>
            <a:schemeClr val="lt2"/>
          </a:solidFill>
          <a:ln cap="flat" cmpd="sng" w="9525">
            <a:solidFill>
              <a:srgbClr val="B04A7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0"/>
          <p:cNvSpPr/>
          <p:nvPr/>
        </p:nvSpPr>
        <p:spPr>
          <a:xfrm>
            <a:off x="5111496" y="4892040"/>
            <a:ext cx="1965960" cy="713232"/>
          </a:xfrm>
          <a:prstGeom prst="roundRect">
            <a:avLst>
              <a:gd fmla="val 12821" name="adj"/>
            </a:avLst>
          </a:prstGeom>
          <a:solidFill>
            <a:srgbClr val="F9E4EC"/>
          </a:solidFill>
          <a:ln cap="flat" cmpd="sng" w="12700">
            <a:solidFill>
              <a:srgbClr val="B04A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0"/>
          <p:cNvSpPr txBox="1"/>
          <p:nvPr/>
        </p:nvSpPr>
        <p:spPr>
          <a:xfrm>
            <a:off x="5157216" y="5001768"/>
            <a:ext cx="1874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E2A50"/>
              </a:buClr>
              <a:buSzPts val="1300"/>
              <a:buFont typeface="Courier New"/>
              <a:buNone/>
            </a:pPr>
            <a:r>
              <a:rPr b="1" lang="en-US" sz="1300">
                <a:solidFill>
                  <a:srgbClr val="7E2A50"/>
                </a:solidFill>
                <a:latin typeface="Courier New"/>
                <a:ea typeface="Courier New"/>
                <a:cs typeface="Courier New"/>
                <a:sym typeface="Courier New"/>
              </a:rPr>
              <a:t>chat_messages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0"/>
          <p:cNvSpPr txBox="1"/>
          <p:nvPr/>
        </p:nvSpPr>
        <p:spPr>
          <a:xfrm>
            <a:off x="5157216" y="5294376"/>
            <a:ext cx="1874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4A7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B04A75"/>
                </a:solidFill>
                <a:latin typeface="Calibri"/>
                <a:ea typeface="Calibri"/>
                <a:cs typeface="Calibri"/>
                <a:sym typeface="Calibri"/>
              </a:rPr>
              <a:t>Chat y asistente IA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0"/>
          <p:cNvSpPr/>
          <p:nvPr/>
        </p:nvSpPr>
        <p:spPr>
          <a:xfrm>
            <a:off x="6620256" y="4672584"/>
            <a:ext cx="566928" cy="27432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12700">
            <a:solidFill>
              <a:srgbClr val="B04A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0"/>
          <p:cNvSpPr txBox="1"/>
          <p:nvPr/>
        </p:nvSpPr>
        <p:spPr>
          <a:xfrm>
            <a:off x="6620256" y="4672584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E2A5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7E2A50"/>
                </a:solidFill>
                <a:latin typeface="Calibri"/>
                <a:ea typeface="Calibri"/>
                <a:cs typeface="Calibri"/>
                <a:sym typeface="Calibri"/>
              </a:rPr>
              <a:t>+7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0"/>
          <p:cNvSpPr/>
          <p:nvPr/>
        </p:nvSpPr>
        <p:spPr>
          <a:xfrm>
            <a:off x="7520940" y="5020056"/>
            <a:ext cx="1965960" cy="713232"/>
          </a:xfrm>
          <a:prstGeom prst="roundRect">
            <a:avLst>
              <a:gd fmla="val 12821" name="adj"/>
            </a:avLst>
          </a:prstGeom>
          <a:solidFill>
            <a:schemeClr val="lt2"/>
          </a:solidFill>
          <a:ln cap="flat" cmpd="sng" w="9525">
            <a:solidFill>
              <a:srgbClr val="B04A7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0"/>
          <p:cNvSpPr/>
          <p:nvPr/>
        </p:nvSpPr>
        <p:spPr>
          <a:xfrm>
            <a:off x="7456932" y="4956048"/>
            <a:ext cx="1965960" cy="713232"/>
          </a:xfrm>
          <a:prstGeom prst="roundRect">
            <a:avLst>
              <a:gd fmla="val 12821" name="adj"/>
            </a:avLst>
          </a:prstGeom>
          <a:solidFill>
            <a:schemeClr val="lt2"/>
          </a:solidFill>
          <a:ln cap="flat" cmpd="sng" w="9525">
            <a:solidFill>
              <a:srgbClr val="B04A7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0"/>
          <p:cNvSpPr/>
          <p:nvPr/>
        </p:nvSpPr>
        <p:spPr>
          <a:xfrm>
            <a:off x="7392924" y="4892040"/>
            <a:ext cx="1965960" cy="713232"/>
          </a:xfrm>
          <a:prstGeom prst="roundRect">
            <a:avLst>
              <a:gd fmla="val 12821" name="adj"/>
            </a:avLst>
          </a:prstGeom>
          <a:solidFill>
            <a:srgbClr val="F9E4EC"/>
          </a:solidFill>
          <a:ln cap="flat" cmpd="sng" w="12700">
            <a:solidFill>
              <a:srgbClr val="B04A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0"/>
          <p:cNvSpPr txBox="1"/>
          <p:nvPr/>
        </p:nvSpPr>
        <p:spPr>
          <a:xfrm>
            <a:off x="7438644" y="5001768"/>
            <a:ext cx="1874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E2A50"/>
              </a:buClr>
              <a:buSzPts val="1300"/>
              <a:buFont typeface="Courier New"/>
              <a:buNone/>
            </a:pPr>
            <a:r>
              <a:rPr b="1" lang="en-US" sz="1300">
                <a:solidFill>
                  <a:srgbClr val="7E2A50"/>
                </a:solidFill>
                <a:latin typeface="Courier New"/>
                <a:ea typeface="Courier New"/>
                <a:cs typeface="Courier New"/>
                <a:sym typeface="Courier New"/>
              </a:rPr>
              <a:t>documents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0"/>
          <p:cNvSpPr txBox="1"/>
          <p:nvPr/>
        </p:nvSpPr>
        <p:spPr>
          <a:xfrm>
            <a:off x="7438644" y="5294376"/>
            <a:ext cx="1874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4A7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B04A75"/>
                </a:solidFill>
                <a:latin typeface="Calibri"/>
                <a:ea typeface="Calibri"/>
                <a:cs typeface="Calibri"/>
                <a:sym typeface="Calibri"/>
              </a:rPr>
              <a:t>Documentos y archivos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0"/>
          <p:cNvSpPr/>
          <p:nvPr/>
        </p:nvSpPr>
        <p:spPr>
          <a:xfrm>
            <a:off x="8901684" y="4672584"/>
            <a:ext cx="566928" cy="27432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12700">
            <a:solidFill>
              <a:srgbClr val="B04A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0"/>
          <p:cNvSpPr txBox="1"/>
          <p:nvPr/>
        </p:nvSpPr>
        <p:spPr>
          <a:xfrm>
            <a:off x="8901684" y="4672584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E2A5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7E2A50"/>
                </a:solidFill>
                <a:latin typeface="Calibri"/>
                <a:ea typeface="Calibri"/>
                <a:cs typeface="Calibri"/>
                <a:sym typeface="Calibri"/>
              </a:rPr>
              <a:t>+1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0"/>
          <p:cNvSpPr/>
          <p:nvPr/>
        </p:nvSpPr>
        <p:spPr>
          <a:xfrm>
            <a:off x="621792" y="5971032"/>
            <a:ext cx="384048" cy="256032"/>
          </a:xfrm>
          <a:prstGeom prst="roundRect">
            <a:avLst>
              <a:gd fmla="val 21429" name="adj"/>
            </a:avLst>
          </a:prstGeom>
          <a:solidFill>
            <a:schemeClr val="lt2"/>
          </a:solidFill>
          <a:ln cap="flat" cmpd="sng" w="952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0"/>
          <p:cNvSpPr/>
          <p:nvPr/>
        </p:nvSpPr>
        <p:spPr>
          <a:xfrm>
            <a:off x="548640" y="5897880"/>
            <a:ext cx="384048" cy="256032"/>
          </a:xfrm>
          <a:prstGeom prst="roundRect">
            <a:avLst>
              <a:gd fmla="val 21429" name="adj"/>
            </a:avLst>
          </a:prstGeom>
          <a:solidFill>
            <a:srgbClr val="EFEDE8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0"/>
          <p:cNvSpPr txBox="1"/>
          <p:nvPr/>
        </p:nvSpPr>
        <p:spPr>
          <a:xfrm>
            <a:off x="1143000" y="5879592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+N tablas de detalle que expanden la entidad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9" name="Google Shape;459;p10"/>
          <p:cNvCxnSpPr/>
          <p:nvPr/>
        </p:nvCxnSpPr>
        <p:spPr>
          <a:xfrm>
            <a:off x="4343400" y="6062472"/>
            <a:ext cx="548640" cy="0"/>
          </a:xfrm>
          <a:prstGeom prst="straightConnector1">
            <a:avLst/>
          </a:prstGeom>
          <a:noFill/>
          <a:ln cap="flat" cmpd="sng" w="15875">
            <a:solidFill>
              <a:schemeClr val="accent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60" name="Google Shape;460;p10"/>
          <p:cNvSpPr txBox="1"/>
          <p:nvPr/>
        </p:nvSpPr>
        <p:spPr>
          <a:xfrm>
            <a:off x="5029200" y="5879592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Relación 1 a N (la flecha apunta al lado N)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0"/>
          <p:cNvSpPr txBox="1"/>
          <p:nvPr/>
        </p:nvSpPr>
        <p:spPr>
          <a:xfrm>
            <a:off x="8138160" y="5879592"/>
            <a:ext cx="35021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13 entidades + 34 tablas de detalle = 47 tablas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0"/>
          <p:cNvSpPr txBox="1"/>
          <p:nvPr>
            <p:ph idx="4294967295" type="sldNum"/>
          </p:nvPr>
        </p:nvSpPr>
        <p:spPr>
          <a:xfrm>
            <a:off x="11274552" y="64008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00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1"/>
          <p:cNvSpPr txBox="1"/>
          <p:nvPr>
            <p:ph type="title"/>
          </p:nvPr>
        </p:nvSpPr>
        <p:spPr>
          <a:xfrm>
            <a:off x="548640" y="64008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chemeClr val="accent1"/>
                </a:solidFill>
              </a:rPr>
              <a:t>Tecnologías: app, backend y base de datos</a:t>
            </a:r>
            <a:endParaRPr sz="3200"/>
          </a:p>
        </p:txBody>
      </p:sp>
      <p:sp>
        <p:nvSpPr>
          <p:cNvPr id="469" name="Google Shape;469;p11"/>
          <p:cNvSpPr/>
          <p:nvPr/>
        </p:nvSpPr>
        <p:spPr>
          <a:xfrm>
            <a:off x="548640" y="1554480"/>
            <a:ext cx="3514344" cy="4663440"/>
          </a:xfrm>
          <a:prstGeom prst="roundRect">
            <a:avLst>
              <a:gd fmla="val 3643" name="adj"/>
            </a:avLst>
          </a:prstGeom>
          <a:solidFill>
            <a:schemeClr val="accent1"/>
          </a:solidFill>
          <a:ln>
            <a:noFill/>
          </a:ln>
          <a:effectLst>
            <a:outerShdw blurRad="1270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1"/>
          <p:cNvSpPr/>
          <p:nvPr/>
        </p:nvSpPr>
        <p:spPr>
          <a:xfrm>
            <a:off x="822960" y="1783080"/>
            <a:ext cx="548640" cy="548640"/>
          </a:xfrm>
          <a:prstGeom prst="roundRect">
            <a:avLst>
              <a:gd fmla="val 2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1" name="Google Shape;47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1093" y="1931213"/>
            <a:ext cx="252374" cy="252374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11"/>
          <p:cNvSpPr txBox="1"/>
          <p:nvPr/>
        </p:nvSpPr>
        <p:spPr>
          <a:xfrm>
            <a:off x="1508760" y="1755648"/>
            <a:ext cx="24170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Cambria"/>
              <a:buNone/>
            </a:pPr>
            <a:r>
              <a:rPr b="1" lang="en-US" sz="17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App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1"/>
          <p:cNvSpPr txBox="1"/>
          <p:nvPr/>
        </p:nvSpPr>
        <p:spPr>
          <a:xfrm>
            <a:off x="1508760" y="2103120"/>
            <a:ext cx="24170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Nuestro alcance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1"/>
          <p:cNvSpPr txBox="1"/>
          <p:nvPr/>
        </p:nvSpPr>
        <p:spPr>
          <a:xfrm>
            <a:off x="822960" y="2606040"/>
            <a:ext cx="2965704" cy="3520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Flutter 3 + Dart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una sola base para Android, iOS y web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Riverpod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gestión de estado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go_router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navegación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Dio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cliente HTTP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1"/>
          <p:cNvSpPr/>
          <p:nvPr/>
        </p:nvSpPr>
        <p:spPr>
          <a:xfrm>
            <a:off x="4337304" y="1554480"/>
            <a:ext cx="3514344" cy="4663440"/>
          </a:xfrm>
          <a:prstGeom prst="roundRect">
            <a:avLst>
              <a:gd fmla="val 3643" name="adj"/>
            </a:avLst>
          </a:prstGeom>
          <a:solidFill>
            <a:schemeClr val="lt1"/>
          </a:solidFill>
          <a:ln>
            <a:noFill/>
          </a:ln>
          <a:effectLst>
            <a:outerShdw blurRad="1270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1"/>
          <p:cNvSpPr/>
          <p:nvPr/>
        </p:nvSpPr>
        <p:spPr>
          <a:xfrm>
            <a:off x="4611624" y="1783080"/>
            <a:ext cx="548640" cy="548640"/>
          </a:xfrm>
          <a:prstGeom prst="roundRect">
            <a:avLst>
              <a:gd fmla="val 20000" name="adj"/>
            </a:avLst>
          </a:prstGeom>
          <a:solidFill>
            <a:srgbClr val="FAEE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7" name="Google Shape;477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9757" y="1931213"/>
            <a:ext cx="252374" cy="252374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11"/>
          <p:cNvSpPr txBox="1"/>
          <p:nvPr/>
        </p:nvSpPr>
        <p:spPr>
          <a:xfrm>
            <a:off x="5297424" y="1755648"/>
            <a:ext cx="24170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mbria"/>
              <a:buNone/>
            </a:pPr>
            <a:r>
              <a:rPr b="1" lang="en-US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Backend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1"/>
          <p:cNvSpPr txBox="1"/>
          <p:nvPr/>
        </p:nvSpPr>
        <p:spPr>
          <a:xfrm>
            <a:off x="5297424" y="2103120"/>
            <a:ext cx="24170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Contrato consumido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1"/>
          <p:cNvSpPr txBox="1"/>
          <p:nvPr/>
        </p:nvSpPr>
        <p:spPr>
          <a:xfrm>
            <a:off x="4611624" y="2606040"/>
            <a:ext cx="2965704" cy="3520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Python 3.12 + FastAPI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framework de la API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Pydantic v2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validación de entradas y salidas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JWT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autenticación con access y refresh token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argon2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hash de contraseñas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WebSocket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chat en tiempo real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OpenAPI / Swagger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documentación en /docs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1"/>
          <p:cNvSpPr/>
          <p:nvPr/>
        </p:nvSpPr>
        <p:spPr>
          <a:xfrm>
            <a:off x="8125968" y="1554480"/>
            <a:ext cx="3514344" cy="4663440"/>
          </a:xfrm>
          <a:prstGeom prst="roundRect">
            <a:avLst>
              <a:gd fmla="val 3643" name="adj"/>
            </a:avLst>
          </a:prstGeom>
          <a:solidFill>
            <a:schemeClr val="lt1"/>
          </a:solidFill>
          <a:ln>
            <a:noFill/>
          </a:ln>
          <a:effectLst>
            <a:outerShdw blurRad="1270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1"/>
          <p:cNvSpPr/>
          <p:nvPr/>
        </p:nvSpPr>
        <p:spPr>
          <a:xfrm>
            <a:off x="8400288" y="1783080"/>
            <a:ext cx="548640" cy="548640"/>
          </a:xfrm>
          <a:prstGeom prst="roundRect">
            <a:avLst>
              <a:gd fmla="val 20000" name="adj"/>
            </a:avLst>
          </a:prstGeom>
          <a:solidFill>
            <a:srgbClr val="FAEE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3" name="Google Shape;483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48421" y="1931213"/>
            <a:ext cx="252374" cy="252374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11"/>
          <p:cNvSpPr txBox="1"/>
          <p:nvPr/>
        </p:nvSpPr>
        <p:spPr>
          <a:xfrm>
            <a:off x="9086088" y="1755648"/>
            <a:ext cx="24170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mbria"/>
              <a:buNone/>
            </a:pPr>
            <a:r>
              <a:rPr b="1" lang="en-US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Base de datos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1"/>
          <p:cNvSpPr txBox="1"/>
          <p:nvPr/>
        </p:nvSpPr>
        <p:spPr>
          <a:xfrm>
            <a:off x="9086088" y="2103120"/>
            <a:ext cx="24170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Persistencia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1"/>
          <p:cNvSpPr txBox="1"/>
          <p:nvPr/>
        </p:nvSpPr>
        <p:spPr>
          <a:xfrm>
            <a:off x="8400288" y="2606040"/>
            <a:ext cx="2965704" cy="3520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PostgreSQL 16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base de datos relacional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SQLAlchemy 2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ORM asíncrono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asyncpg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driver de PostgreSQL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Alembic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migraciones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1"/>
          <p:cNvSpPr txBox="1"/>
          <p:nvPr>
            <p:ph idx="4294967295" type="sldNum"/>
          </p:nvPr>
        </p:nvSpPr>
        <p:spPr>
          <a:xfrm>
            <a:off x="11274552" y="64008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00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12"/>
          <p:cNvSpPr txBox="1"/>
          <p:nvPr>
            <p:ph type="title"/>
          </p:nvPr>
        </p:nvSpPr>
        <p:spPr>
          <a:xfrm>
            <a:off x="548640" y="64008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chemeClr val="accent1"/>
                </a:solidFill>
              </a:rPr>
              <a:t>Tecnologías: infraestructura, servicios y DevOps</a:t>
            </a:r>
            <a:endParaRPr sz="3200"/>
          </a:p>
        </p:txBody>
      </p:sp>
      <p:sp>
        <p:nvSpPr>
          <p:cNvPr id="494" name="Google Shape;494;p12"/>
          <p:cNvSpPr/>
          <p:nvPr/>
        </p:nvSpPr>
        <p:spPr>
          <a:xfrm>
            <a:off x="548640" y="1554480"/>
            <a:ext cx="3514344" cy="4663440"/>
          </a:xfrm>
          <a:prstGeom prst="roundRect">
            <a:avLst>
              <a:gd fmla="val 3643" name="adj"/>
            </a:avLst>
          </a:prstGeom>
          <a:solidFill>
            <a:schemeClr val="accent1"/>
          </a:solidFill>
          <a:ln>
            <a:noFill/>
          </a:ln>
          <a:effectLst>
            <a:outerShdw blurRad="1270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2"/>
          <p:cNvSpPr/>
          <p:nvPr/>
        </p:nvSpPr>
        <p:spPr>
          <a:xfrm>
            <a:off x="822960" y="1783080"/>
            <a:ext cx="548640" cy="548640"/>
          </a:xfrm>
          <a:prstGeom prst="roundRect">
            <a:avLst>
              <a:gd fmla="val 2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6" name="Google Shape;49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1093" y="1931213"/>
            <a:ext cx="252374" cy="252374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12"/>
          <p:cNvSpPr txBox="1"/>
          <p:nvPr/>
        </p:nvSpPr>
        <p:spPr>
          <a:xfrm>
            <a:off x="1508760" y="1755648"/>
            <a:ext cx="24170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Cambria"/>
              <a:buNone/>
            </a:pPr>
            <a:r>
              <a:rPr b="1" lang="en-US" sz="17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Infraestructura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2"/>
          <p:cNvSpPr txBox="1"/>
          <p:nvPr/>
        </p:nvSpPr>
        <p:spPr>
          <a:xfrm>
            <a:off x="1508760" y="2103120"/>
            <a:ext cx="24170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Azure · Brazil South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2"/>
          <p:cNvSpPr txBox="1"/>
          <p:nvPr/>
        </p:nvSpPr>
        <p:spPr>
          <a:xfrm>
            <a:off x="822960" y="2606040"/>
            <a:ext cx="2965704" cy="3520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Azure App Service Linux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API · plan B1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Azure Database for PostgreSQL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Flexible Server · plan B1ms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Azure Blob Storage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Standard LRS con URLs firmadas SAS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Vercel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versión web · plan Hobby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2"/>
          <p:cNvSpPr/>
          <p:nvPr/>
        </p:nvSpPr>
        <p:spPr>
          <a:xfrm>
            <a:off x="4337304" y="1554480"/>
            <a:ext cx="3514344" cy="4663440"/>
          </a:xfrm>
          <a:prstGeom prst="roundRect">
            <a:avLst>
              <a:gd fmla="val 3643" name="adj"/>
            </a:avLst>
          </a:prstGeom>
          <a:solidFill>
            <a:schemeClr val="lt1"/>
          </a:solidFill>
          <a:ln>
            <a:noFill/>
          </a:ln>
          <a:effectLst>
            <a:outerShdw blurRad="1270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2"/>
          <p:cNvSpPr/>
          <p:nvPr/>
        </p:nvSpPr>
        <p:spPr>
          <a:xfrm>
            <a:off x="4611624" y="1783080"/>
            <a:ext cx="548640" cy="548640"/>
          </a:xfrm>
          <a:prstGeom prst="roundRect">
            <a:avLst>
              <a:gd fmla="val 20000" name="adj"/>
            </a:avLst>
          </a:prstGeom>
          <a:solidFill>
            <a:srgbClr val="FAEE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02" name="Google Shape;50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9757" y="1931213"/>
            <a:ext cx="252374" cy="252374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12"/>
          <p:cNvSpPr txBox="1"/>
          <p:nvPr/>
        </p:nvSpPr>
        <p:spPr>
          <a:xfrm>
            <a:off x="5297424" y="1755648"/>
            <a:ext cx="24170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mbria"/>
              <a:buNone/>
            </a:pPr>
            <a:r>
              <a:rPr b="1" lang="en-US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Servicios externos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2"/>
          <p:cNvSpPr txBox="1"/>
          <p:nvPr/>
        </p:nvSpPr>
        <p:spPr>
          <a:xfrm>
            <a:off x="5297424" y="2103120"/>
            <a:ext cx="24170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Integraciones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2"/>
          <p:cNvSpPr txBox="1"/>
          <p:nvPr/>
        </p:nvSpPr>
        <p:spPr>
          <a:xfrm>
            <a:off x="4611624" y="2606040"/>
            <a:ext cx="2965704" cy="3520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Firebase Cloud Messaging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notificaciones push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Claude API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asistente IA y lectura de recetas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Azure AI Speech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dictado y lectura en voz alta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Spike API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integración con wearables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2"/>
          <p:cNvSpPr/>
          <p:nvPr/>
        </p:nvSpPr>
        <p:spPr>
          <a:xfrm>
            <a:off x="8125968" y="1554480"/>
            <a:ext cx="3514344" cy="4663440"/>
          </a:xfrm>
          <a:prstGeom prst="roundRect">
            <a:avLst>
              <a:gd fmla="val 3643" name="adj"/>
            </a:avLst>
          </a:prstGeom>
          <a:solidFill>
            <a:schemeClr val="accent6"/>
          </a:solidFill>
          <a:ln>
            <a:noFill/>
          </a:ln>
          <a:effectLst>
            <a:outerShdw blurRad="1270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2"/>
          <p:cNvSpPr/>
          <p:nvPr/>
        </p:nvSpPr>
        <p:spPr>
          <a:xfrm>
            <a:off x="8400288" y="1783080"/>
            <a:ext cx="548640" cy="548640"/>
          </a:xfrm>
          <a:prstGeom prst="roundRect">
            <a:avLst>
              <a:gd fmla="val 2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08" name="Google Shape;508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48421" y="1931213"/>
            <a:ext cx="252374" cy="252374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12"/>
          <p:cNvSpPr txBox="1"/>
          <p:nvPr/>
        </p:nvSpPr>
        <p:spPr>
          <a:xfrm>
            <a:off x="9086088" y="1755648"/>
            <a:ext cx="24170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mbria"/>
              <a:buNone/>
            </a:pPr>
            <a:r>
              <a:rPr b="1" lang="en-US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DevOps y herramientas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2"/>
          <p:cNvSpPr txBox="1"/>
          <p:nvPr/>
        </p:nvSpPr>
        <p:spPr>
          <a:xfrm>
            <a:off x="9086088" y="2103120"/>
            <a:ext cx="24170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Repos, CI y despliegue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2"/>
          <p:cNvSpPr txBox="1"/>
          <p:nvPr/>
        </p:nvSpPr>
        <p:spPr>
          <a:xfrm>
            <a:off x="8400288" y="2606040"/>
            <a:ext cx="2965704" cy="3520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los dos repositorios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GitHub Actions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integración continua (CI)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PowerShell · deploy.ps1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despliegue del backend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Docker + docker-compose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entorno local y entrega del frontend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Mermaid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diagramas de la página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2"/>
          <p:cNvSpPr txBox="1"/>
          <p:nvPr>
            <p:ph idx="4294967295" type="sldNum"/>
          </p:nvPr>
        </p:nvSpPr>
        <p:spPr>
          <a:xfrm>
            <a:off x="11274552" y="64008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00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13"/>
          <p:cNvSpPr txBox="1"/>
          <p:nvPr>
            <p:ph type="title"/>
          </p:nvPr>
        </p:nvSpPr>
        <p:spPr>
          <a:xfrm>
            <a:off x="548640" y="64008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chemeClr val="accent1"/>
                </a:solidFill>
              </a:rPr>
              <a:t>Prototipo de la aplicación</a:t>
            </a:r>
            <a:endParaRPr sz="3200"/>
          </a:p>
        </p:txBody>
      </p:sp>
      <p:sp>
        <p:nvSpPr>
          <p:cNvPr id="519" name="Google Shape;519;p13"/>
          <p:cNvSpPr/>
          <p:nvPr/>
        </p:nvSpPr>
        <p:spPr>
          <a:xfrm>
            <a:off x="978408" y="2057400"/>
            <a:ext cx="2834640" cy="283464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hone9.png" id="520" name="Google Shape;52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6419" y="1463040"/>
            <a:ext cx="2018618" cy="3794760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13"/>
          <p:cNvSpPr txBox="1"/>
          <p:nvPr/>
        </p:nvSpPr>
        <p:spPr>
          <a:xfrm>
            <a:off x="658368" y="539496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mbria"/>
              <a:buNone/>
            </a:pPr>
            <a:r>
              <a:rPr b="1" lang="en-US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Selección de rol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3"/>
          <p:cNvSpPr txBox="1"/>
          <p:nvPr/>
        </p:nvSpPr>
        <p:spPr>
          <a:xfrm>
            <a:off x="658368" y="576072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Familiar, cuidadora, adulto mayor o médico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3"/>
          <p:cNvSpPr/>
          <p:nvPr/>
        </p:nvSpPr>
        <p:spPr>
          <a:xfrm>
            <a:off x="4672584" y="2057400"/>
            <a:ext cx="2834640" cy="283464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hone4.png" id="524" name="Google Shape;52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62810" y="1463040"/>
            <a:ext cx="1854188" cy="3794760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13"/>
          <p:cNvSpPr txBox="1"/>
          <p:nvPr/>
        </p:nvSpPr>
        <p:spPr>
          <a:xfrm>
            <a:off x="4352544" y="539496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mbria"/>
              <a:buNone/>
            </a:pPr>
            <a:r>
              <a:rPr b="1" lang="en-US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Inicio del familiar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3"/>
          <p:cNvSpPr txBox="1"/>
          <p:nvPr/>
        </p:nvSpPr>
        <p:spPr>
          <a:xfrm>
            <a:off x="4352544" y="576072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Vitales, medicamentos del día y bitácora de la cuidadora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3"/>
          <p:cNvSpPr/>
          <p:nvPr/>
        </p:nvSpPr>
        <p:spPr>
          <a:xfrm>
            <a:off x="8366760" y="2057400"/>
            <a:ext cx="2834640" cy="283464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hone1.png" id="528" name="Google Shape;52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69342" y="1463040"/>
            <a:ext cx="2029476" cy="3794760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13"/>
          <p:cNvSpPr txBox="1"/>
          <p:nvPr/>
        </p:nvSpPr>
        <p:spPr>
          <a:xfrm>
            <a:off x="8046720" y="539496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mbria"/>
              <a:buNone/>
            </a:pPr>
            <a:r>
              <a:rPr b="1" lang="en-US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Vista del adulto mayor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3"/>
          <p:cNvSpPr txBox="1"/>
          <p:nvPr/>
        </p:nvSpPr>
        <p:spPr>
          <a:xfrm>
            <a:off x="8046720" y="576072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Familia, fotos, entretenimiento y mensaje de voz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3"/>
          <p:cNvSpPr txBox="1"/>
          <p:nvPr>
            <p:ph idx="4294967295" type="sldNum"/>
          </p:nvPr>
        </p:nvSpPr>
        <p:spPr>
          <a:xfrm>
            <a:off x="11274552" y="64008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00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14"/>
          <p:cNvSpPr/>
          <p:nvPr/>
        </p:nvSpPr>
        <p:spPr>
          <a:xfrm>
            <a:off x="7012094" y="640081"/>
            <a:ext cx="5367868" cy="54305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14"/>
          <p:cNvSpPr/>
          <p:nvPr/>
        </p:nvSpPr>
        <p:spPr>
          <a:xfrm>
            <a:off x="548640" y="1828800"/>
            <a:ext cx="1417320" cy="411480"/>
          </a:xfrm>
          <a:prstGeom prst="roundRect">
            <a:avLst>
              <a:gd fmla="val 48889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14"/>
          <p:cNvSpPr/>
          <p:nvPr/>
        </p:nvSpPr>
        <p:spPr>
          <a:xfrm>
            <a:off x="731520" y="1965960"/>
            <a:ext cx="137160" cy="13716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14"/>
          <p:cNvSpPr txBox="1"/>
          <p:nvPr/>
        </p:nvSpPr>
        <p:spPr>
          <a:xfrm>
            <a:off x="960120" y="1828800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 VIVO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4"/>
          <p:cNvSpPr txBox="1"/>
          <p:nvPr/>
        </p:nvSpPr>
        <p:spPr>
          <a:xfrm>
            <a:off x="548640" y="2468880"/>
            <a:ext cx="658368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Cambria"/>
              <a:buNone/>
            </a:pPr>
            <a:r>
              <a:rPr b="1" lang="en-US" sz="52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Demostración del sistema</a:t>
            </a:r>
            <a:endParaRPr sz="5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4"/>
          <p:cNvSpPr txBox="1"/>
          <p:nvPr/>
        </p:nvSpPr>
        <p:spPr>
          <a:xfrm>
            <a:off x="548640" y="429768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Calibri"/>
              <a:buNone/>
            </a:pPr>
            <a:r>
              <a:rPr lang="en-US" sz="20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Recorrido por la app AgeCare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hone4.png" id="543" name="Google Shape;54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93880" y="548640"/>
            <a:ext cx="2724522" cy="5577840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14"/>
          <p:cNvSpPr/>
          <p:nvPr/>
        </p:nvSpPr>
        <p:spPr>
          <a:xfrm>
            <a:off x="548640" y="5349240"/>
            <a:ext cx="2377440" cy="566928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5" name="Google Shape;54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960" y="5486400"/>
            <a:ext cx="1828800" cy="2926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15"/>
          <p:cNvSpPr txBox="1"/>
          <p:nvPr>
            <p:ph type="title"/>
          </p:nvPr>
        </p:nvSpPr>
        <p:spPr>
          <a:xfrm>
            <a:off x="548640" y="64008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chemeClr val="accent1"/>
                </a:solidFill>
              </a:rPr>
              <a:t>Resultados obtenidos</a:t>
            </a:r>
            <a:endParaRPr sz="3200"/>
          </a:p>
        </p:txBody>
      </p:sp>
      <p:sp>
        <p:nvSpPr>
          <p:cNvPr id="552" name="Google Shape;552;p15"/>
          <p:cNvSpPr txBox="1"/>
          <p:nvPr>
            <p:ph idx="4294967295" type="sldNum"/>
          </p:nvPr>
        </p:nvSpPr>
        <p:spPr>
          <a:xfrm>
            <a:off x="11274552" y="64008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00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16"/>
          <p:cNvSpPr txBox="1"/>
          <p:nvPr>
            <p:ph type="title"/>
          </p:nvPr>
        </p:nvSpPr>
        <p:spPr>
          <a:xfrm>
            <a:off x="548640" y="64008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chemeClr val="accent1"/>
                </a:solidFill>
              </a:rPr>
              <a:t>Obstáculos durante el desarrollo</a:t>
            </a:r>
            <a:endParaRPr sz="3200"/>
          </a:p>
        </p:txBody>
      </p:sp>
      <p:sp>
        <p:nvSpPr>
          <p:cNvPr id="559" name="Google Shape;559;p16"/>
          <p:cNvSpPr txBox="1"/>
          <p:nvPr>
            <p:ph idx="4294967295" type="sldNum"/>
          </p:nvPr>
        </p:nvSpPr>
        <p:spPr>
          <a:xfrm>
            <a:off x="11274552" y="64008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00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17"/>
          <p:cNvSpPr/>
          <p:nvPr/>
        </p:nvSpPr>
        <p:spPr>
          <a:xfrm>
            <a:off x="8595360" y="-1097280"/>
            <a:ext cx="4754880" cy="4754880"/>
          </a:xfrm>
          <a:prstGeom prst="ellipse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17"/>
          <p:cNvSpPr/>
          <p:nvPr/>
        </p:nvSpPr>
        <p:spPr>
          <a:xfrm>
            <a:off x="7863840" y="4206240"/>
            <a:ext cx="2194560" cy="21945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67" name="Google Shape;56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417320"/>
            <a:ext cx="822960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17"/>
          <p:cNvSpPr txBox="1"/>
          <p:nvPr/>
        </p:nvSpPr>
        <p:spPr>
          <a:xfrm>
            <a:off x="548640" y="2377440"/>
            <a:ext cx="73152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Cambria"/>
              <a:buNone/>
            </a:pPr>
            <a:r>
              <a:rPr b="1" lang="en-US" sz="66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¿Preguntas?</a:t>
            </a:r>
            <a:endParaRPr sz="6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7"/>
          <p:cNvSpPr txBox="1"/>
          <p:nvPr/>
        </p:nvSpPr>
        <p:spPr>
          <a:xfrm>
            <a:off x="548640" y="36576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Calibri"/>
              <a:buNone/>
            </a:pPr>
            <a:r>
              <a:rPr lang="en-US" sz="22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Preguntas de la comisión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7"/>
          <p:cNvSpPr txBox="1"/>
          <p:nvPr/>
        </p:nvSpPr>
        <p:spPr>
          <a:xfrm>
            <a:off x="548640" y="443484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Calibri"/>
              <a:buNone/>
            </a:pPr>
            <a:r>
              <a:rPr lang="en-US" sz="15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Claudia Iosue  ·  Franco Barra  ·  César Gacitua  ·  Felipe Varas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7"/>
          <p:cNvSpPr/>
          <p:nvPr/>
        </p:nvSpPr>
        <p:spPr>
          <a:xfrm>
            <a:off x="548640" y="5349240"/>
            <a:ext cx="2377440" cy="566928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72" name="Google Shape;57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960" y="5486400"/>
            <a:ext cx="1828800" cy="2926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geCare">
  <a:themeElements>
    <a:clrScheme name="AgeCare">
      <a:dk1>
        <a:srgbClr val="1F2A27"/>
      </a:dk1>
      <a:lt1>
        <a:srgbClr val="FFFFFF"/>
      </a:lt1>
      <a:dk2>
        <a:srgbClr val="134E43"/>
      </a:dk2>
      <a:lt2>
        <a:srgbClr val="F4F2ED"/>
      </a:lt2>
      <a:accent1>
        <a:srgbClr val="1A6B5C"/>
      </a:accent1>
      <a:accent2>
        <a:srgbClr val="C07A2A"/>
      </a:accent2>
      <a:accent3>
        <a:srgbClr val="D9534F"/>
      </a:accent3>
      <a:accent4>
        <a:srgbClr val="6B7671"/>
      </a:accent4>
      <a:accent5>
        <a:srgbClr val="E2EFEA"/>
      </a:accent5>
      <a:accent6>
        <a:srgbClr val="FAEEDD"/>
      </a:accent6>
      <a:hlink>
        <a:srgbClr val="1A6B5C"/>
      </a:hlink>
      <a:folHlink>
        <a:srgbClr val="C07A2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2026-10-16T19:35:09Z</dcterms:created>
  <dc:creator>Equipo AgeCare</dc:creator>
</cp:coreProperties>
</file>